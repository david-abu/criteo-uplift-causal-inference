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806" autoAdjust="0"/>
  </p:normalViewPr>
  <p:slideViewPr>
    <p:cSldViewPr snapToGrid="0" snapToObjects="1">
      <p:cViewPr varScale="1">
        <p:scale>
          <a:sx n="95" d="100"/>
          <a:sy n="95" d="100"/>
        </p:scale>
        <p:origin x="109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Abu" userId="15f0667280162e2f" providerId="LiveId" clId="{F12EBAC7-17C5-44E6-9A08-6309DB047EEA}"/>
    <pc:docChg chg="modSld">
      <pc:chgData name="David Abu" userId="15f0667280162e2f" providerId="LiveId" clId="{F12EBAC7-17C5-44E6-9A08-6309DB047EEA}" dt="2026-04-24T01:26:43.566" v="13" actId="6549"/>
      <pc:docMkLst>
        <pc:docMk/>
      </pc:docMkLst>
      <pc:sldChg chg="modSp mod">
        <pc:chgData name="David Abu" userId="15f0667280162e2f" providerId="LiveId" clId="{F12EBAC7-17C5-44E6-9A08-6309DB047EEA}" dt="2026-04-24T01:26:43.566" v="13" actId="6549"/>
        <pc:sldMkLst>
          <pc:docMk/>
          <pc:sldMk cId="0" sldId="260"/>
        </pc:sldMkLst>
        <pc:spChg chg="mod">
          <ac:chgData name="David Abu" userId="15f0667280162e2f" providerId="LiveId" clId="{F12EBAC7-17C5-44E6-9A08-6309DB047EEA}" dt="2026-04-24T01:25:53.031" v="3" actId="1076"/>
          <ac:spMkLst>
            <pc:docMk/>
            <pc:sldMk cId="0" sldId="260"/>
            <ac:spMk id="7" creationId="{00000000-0000-0000-0000-000000000000}"/>
          </ac:spMkLst>
        </pc:spChg>
        <pc:spChg chg="mod">
          <ac:chgData name="David Abu" userId="15f0667280162e2f" providerId="LiveId" clId="{F12EBAC7-17C5-44E6-9A08-6309DB047EEA}" dt="2026-04-24T01:25:57.111" v="4" actId="1076"/>
          <ac:spMkLst>
            <pc:docMk/>
            <pc:sldMk cId="0" sldId="260"/>
            <ac:spMk id="10" creationId="{00000000-0000-0000-0000-000000000000}"/>
          </ac:spMkLst>
        </pc:spChg>
        <pc:spChg chg="mod">
          <ac:chgData name="David Abu" userId="15f0667280162e2f" providerId="LiveId" clId="{F12EBAC7-17C5-44E6-9A08-6309DB047EEA}" dt="2026-04-24T01:26:02.730" v="5" actId="1076"/>
          <ac:spMkLst>
            <pc:docMk/>
            <pc:sldMk cId="0" sldId="260"/>
            <ac:spMk id="13" creationId="{00000000-0000-0000-0000-000000000000}"/>
          </ac:spMkLst>
        </pc:spChg>
        <pc:spChg chg="mod">
          <ac:chgData name="David Abu" userId="15f0667280162e2f" providerId="LiveId" clId="{F12EBAC7-17C5-44E6-9A08-6309DB047EEA}" dt="2026-04-24T01:26:06.706" v="6" actId="1076"/>
          <ac:spMkLst>
            <pc:docMk/>
            <pc:sldMk cId="0" sldId="260"/>
            <ac:spMk id="16" creationId="{00000000-0000-0000-0000-000000000000}"/>
          </ac:spMkLst>
        </pc:spChg>
        <pc:spChg chg="mod">
          <ac:chgData name="David Abu" userId="15f0667280162e2f" providerId="LiveId" clId="{F12EBAC7-17C5-44E6-9A08-6309DB047EEA}" dt="2026-04-24T01:26:10.005" v="7" actId="1076"/>
          <ac:spMkLst>
            <pc:docMk/>
            <pc:sldMk cId="0" sldId="260"/>
            <ac:spMk id="19" creationId="{00000000-0000-0000-0000-000000000000}"/>
          </ac:spMkLst>
        </pc:spChg>
        <pc:spChg chg="mod">
          <ac:chgData name="David Abu" userId="15f0667280162e2f" providerId="LiveId" clId="{F12EBAC7-17C5-44E6-9A08-6309DB047EEA}" dt="2026-04-24T01:26:43.566" v="13" actId="6549"/>
          <ac:spMkLst>
            <pc:docMk/>
            <pc:sldMk cId="0" sldId="260"/>
            <ac:spMk id="20" creationId="{00000000-0000-0000-0000-000000000000}"/>
          </ac:spMkLst>
        </pc:spChg>
        <pc:spChg chg="mod">
          <ac:chgData name="David Abu" userId="15f0667280162e2f" providerId="LiveId" clId="{F12EBAC7-17C5-44E6-9A08-6309DB047EEA}" dt="2026-04-24T01:01:36.580" v="0" actId="20577"/>
          <ac:spMkLst>
            <pc:docMk/>
            <pc:sldMk cId="0" sldId="260"/>
            <ac:spMk id="29" creationId="{00000000-0000-0000-0000-000000000000}"/>
          </ac:spMkLst>
        </pc:spChg>
      </pc:sldChg>
      <pc:sldChg chg="modSp mod">
        <pc:chgData name="David Abu" userId="15f0667280162e2f" providerId="LiveId" clId="{F12EBAC7-17C5-44E6-9A08-6309DB047EEA}" dt="2026-04-24T01:02:14.948" v="1" actId="14100"/>
        <pc:sldMkLst>
          <pc:docMk/>
          <pc:sldMk cId="0" sldId="261"/>
        </pc:sldMkLst>
        <pc:graphicFrameChg chg="modGraphic">
          <ac:chgData name="David Abu" userId="15f0667280162e2f" providerId="LiveId" clId="{F12EBAC7-17C5-44E6-9A08-6309DB047EEA}" dt="2026-04-24T01:02:14.948" v="1" actId="14100"/>
          <ac:graphicFrameMkLst>
            <pc:docMk/>
            <pc:sldMk cId="0" sldId="261"/>
            <ac:graphicFrameMk id="7"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692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I'm presenting a causal inference project on digital advertising using the Criteo Uplift dataset. The central question is not just whether ads work, but who they actually work for — and who they actively hurt. I'll walk you through the full analytical pipeline from average treatment effects to individual-level targeting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with traditional ad targeting is that it asks the wrong question. It asks who is likely to buy — but that catches people who would have bought anyway, wasting your budget. Uplift modelling asks a smarter question: whose </a:t>
            </a:r>
            <a:r>
              <a:rPr lang="en-US" dirty="0" err="1"/>
              <a:t>behaviour</a:t>
            </a:r>
            <a:r>
              <a:rPr lang="en-US" dirty="0"/>
              <a:t> actually changes because of the ad? There are four types of users. </a:t>
            </a:r>
            <a:r>
              <a:rPr lang="en-US" dirty="0" err="1"/>
              <a:t>Persuadables</a:t>
            </a:r>
            <a:r>
              <a:rPr lang="en-US" dirty="0"/>
              <a:t> are who we want — they buy only because of the ad. Sure Things buy regardless, so the ad is wasted on them. Lost Causes won't buy either way. And Sleeping Dogs are the most dangerous — showing them an ad actually reduces their chance of buying. Our entire project is designed to find the </a:t>
            </a:r>
            <a:r>
              <a:rPr lang="en-US" dirty="0" err="1"/>
              <a:t>Persuadables</a:t>
            </a:r>
            <a:r>
              <a:rPr lang="en-US" dirty="0"/>
              <a:t> and avoid the Sleeping Dogs."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using the Criteo Uplift v2.1 dataset — a large-scale </a:t>
            </a:r>
            <a:r>
              <a:rPr lang="en-US" dirty="0" err="1"/>
              <a:t>randomised</a:t>
            </a:r>
            <a:r>
              <a:rPr lang="en-US" dirty="0"/>
              <a:t> controlled trial run by Criteo AI Lab. 13.9 million users were randomly split: 85% could receive ads, 15% were deliberately held back as a control group. Because the split is random, any difference in outcomes between the two groups is causally caused by the ad — not by any pre-existing difference between users. We sampled 200,000 rows for this analysis. The propensity AUC of 0.51 — barely above random — confirms the </a:t>
            </a:r>
            <a:r>
              <a:rPr lang="en-US" dirty="0" err="1"/>
              <a:t>randomisation</a:t>
            </a:r>
            <a:r>
              <a:rPr lang="en-US" dirty="0"/>
              <a:t> is clean. The 12 features are </a:t>
            </a:r>
            <a:r>
              <a:rPr lang="en-US" dirty="0" err="1"/>
              <a:t>anonymised</a:t>
            </a:r>
            <a:r>
              <a:rPr lang="en-US" dirty="0"/>
              <a:t> floats. Our primary outcome is website visits at 4.85%."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any formal tests, Figure 2 gives us the first visual signal. The control group visits the site at 3.88%. The treatment group visits at 4.91%. That gap is a +26.4% relative lift. For conversions, the control rate is 0.18% and the treatment rate is 0.35% — nearly double, a +93% relative lift. These are the raw numbers before any statistical testing — and they already look promising."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t>
            </a:r>
            <a:r>
              <a:rPr lang="en-US" dirty="0" err="1"/>
              <a:t>formalise</a:t>
            </a:r>
            <a:r>
              <a:rPr lang="en-US" dirty="0"/>
              <a:t> it. The Average Treatment Effect on visits is +0.0103 — meaning the ad increases a user's visit probability by just over one percentage point on average. The t-statistic is 7.71 and the p-value is effectively zero, so we reject the null hypothesis that the ad has no effect. The 95% confidence interval is entirely above zero, which means we are 95% confident the true effect is positive. For conversions, the ATE is +0.0017 — also significant. We also ran a completely independent check using Inverse Probability Weighting, which reweights users by how surprising their treatment assignment was. It reaches the same conclusion. Two methods, same answer — the ad works."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 ATE is just an average — and averages hide the real story. CATE, the Conditional Average Treatment Effect, gives every user their own </a:t>
            </a:r>
            <a:r>
              <a:rPr lang="en-US" dirty="0" err="1"/>
              <a:t>personalised</a:t>
            </a:r>
            <a:r>
              <a:rPr lang="en-US" dirty="0"/>
              <a:t> estimated treatment effect based on their features. We ran three models. The S-Learner uses one model and is conservative — it finds all effects are positive, which we know is over-simplified. The T-Learner uses two separate models and starts finding negative effects. The </a:t>
            </a:r>
            <a:r>
              <a:rPr lang="en-US" dirty="0" err="1"/>
              <a:t>LightGBM</a:t>
            </a:r>
            <a:r>
              <a:rPr lang="en-US" dirty="0"/>
              <a:t> T-Learner is our most powerful model — it uses gradient boosting to capture non-linear patterns the linear models miss. It achieves outcome model AUCs of 0.94, and finds individual effects ranging from negative 27 percentage points to positive 58 percentage points. The average CATE is identical across all models — the difference is in the spread, which tells us how much heterogeneity is really out there."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Segmentation</a:t>
            </a:r>
          </a:p>
          <a:p>
            <a:r>
              <a:rPr lang="en-US" i="1" dirty="0"/>
              <a:t>"Using the </a:t>
            </a:r>
            <a:r>
              <a:rPr lang="en-US" i="1" dirty="0" err="1"/>
              <a:t>LightGBM</a:t>
            </a:r>
            <a:r>
              <a:rPr lang="en-US" i="1" dirty="0"/>
              <a:t> predicted probabilities, we classify every test user into one of four segments. The 2x2 heatmap on the left shows who visits with and without the ad. The results on the right are the key business finding. Only 3.4% of users — 2,021 people — are genuine </a:t>
            </a:r>
            <a:r>
              <a:rPr lang="en-US" i="1" dirty="0" err="1"/>
              <a:t>Persuadables</a:t>
            </a:r>
            <a:r>
              <a:rPr lang="en-US" i="1" dirty="0"/>
              <a:t>. These are the users the ad actually moves. 84.2% are Lost Causes — the ad cannot help them. 12% are Sure Things who convert without any ad. And 0.4% are Sleeping Dogs who we should actively exclude. This means 84 cents of every dollar spent on random targeting is wasted. The entire business case for uplift modelling lives in finding that 3.4%."</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Uplift Curves (Fig 12)</a:t>
            </a:r>
          </a:p>
          <a:p>
            <a:r>
              <a:rPr lang="en-US" i="1" dirty="0"/>
              <a:t>"The uplift curve is how we evaluate whether our models actually help with targeting. We rank all users from highest to lowest predicted CATE, then progressively target more of them and measure cumulative incremental visits. If our model is useless, we'd do no better than random — that's the dashed grey line. Both the S-Learner and T-Learner sit dramatically above the random baseline across the entire population. The </a:t>
            </a:r>
            <a:r>
              <a:rPr lang="en-US" i="1" dirty="0" err="1"/>
              <a:t>Qini</a:t>
            </a:r>
            <a:r>
              <a:rPr lang="en-US" i="1" dirty="0"/>
              <a:t> coefficient </a:t>
            </a:r>
            <a:r>
              <a:rPr lang="en-US" i="1" dirty="0" err="1"/>
              <a:t>summarises</a:t>
            </a:r>
            <a:r>
              <a:rPr lang="en-US" i="1" dirty="0"/>
              <a:t> this as a single number — 163 for the S-Learner versus zero for random. That gap is the value our models create."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Efficiency Numbers</a:t>
            </a:r>
          </a:p>
          <a:p>
            <a:r>
              <a:rPr lang="en-US" i="1" dirty="0"/>
              <a:t>"This slide translates the uplift curve into concrete business numbers. If you target randomly, contacting 20% of users gives you 185 incremental visits. If you target the top 20% ranked by our model, you get 456 incremental visits — that is 146% more impact from the same number of contacts. Even more striking on the right column — targeting just 20% of users by our model captures 65 to 79% of the entire campaign's possible uplift. You get four fifths of the value by contacting one fifth of the audience. Beyond 30% targeting depth, the marginal gain drops sharply — meaning anything beyond the top 30% is increasingly close to wasted spend."</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full analysis, here are six concrete actions for a marketing team. First, rank all users by </a:t>
            </a:r>
            <a:r>
              <a:rPr lang="en-US" dirty="0" err="1"/>
              <a:t>LightGBM</a:t>
            </a:r>
            <a:r>
              <a:rPr lang="en-US" dirty="0"/>
              <a:t> CATE before every campaign — this is your targeting list. Second, only contact the top 20 to 30% — this is where the value is concentrated. Third, build a suppression list of Sleeping Dogs — these 269 users respond negatively and should never be targeted. Fourth, skip Sure Things entirely — they convert without the ad, so every impression on them is pure waste. Fifth, </a:t>
            </a:r>
            <a:r>
              <a:rPr lang="en-US" dirty="0" err="1"/>
              <a:t>prioritise</a:t>
            </a:r>
            <a:r>
              <a:rPr lang="en-US" dirty="0"/>
              <a:t> users with high values of features f1 and f9, which are the strongest positive predictors of treatment response. Sixth, retrain the models every quarter because user </a:t>
            </a:r>
            <a:r>
              <a:rPr lang="en-US" dirty="0" err="1"/>
              <a:t>behaviour</a:t>
            </a:r>
            <a:r>
              <a:rPr lang="en-US" dirty="0"/>
              <a:t> evolves."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 four things to remember. One: the ad works. ATE of plus 26.4% on visits and plus 93% on conversions, proven by two independent methods. Two: the effect is not uniform — CATE ranges from minus 0.27 to plus 0.58. The average hides enormous variation. Three: only 3.4% of users are true </a:t>
            </a:r>
            <a:r>
              <a:rPr lang="en-US" dirty="0" err="1"/>
              <a:t>Persuadables</a:t>
            </a:r>
            <a:r>
              <a:rPr lang="en-US" dirty="0"/>
              <a:t>. 84.2% are Lost Causes. Random targeting wastes 84 cents of every dollar. Four: by targeting the top 20% by predicted CATE, we capture 65 to 79% of the entire campaign's possible uplift at a fraction of the cost. The headline insight is this — uplift modelling is not just better prediction. It is causal targeting. Finding the 3.4% is worth more than reaching the other 96.6%."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David-abu/ECONS_5140/blob/main/AD%20ANALYSIS.ipynb"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David-abu/ECONS_5140/blob/main/AD%20ANALYSIS.ipynb"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3520440"/>
            <a:ext cx="9144000" cy="1623060"/>
          </a:xfrm>
          <a:prstGeom prst="rect">
            <a:avLst/>
          </a:prstGeom>
          <a:solidFill>
            <a:srgbClr val="2563EB"/>
          </a:solidFill>
          <a:ln w="12700">
            <a:solidFill>
              <a:srgbClr val="2563EB"/>
            </a:solidFill>
            <a:prstDash val="solid"/>
          </a:ln>
        </p:spPr>
        <p:txBody>
          <a:bodyPr/>
          <a:lstStyle/>
          <a:p>
            <a:endParaRPr lang="en-US"/>
          </a:p>
        </p:txBody>
      </p:sp>
      <p:sp>
        <p:nvSpPr>
          <p:cNvPr id="4" name="Text 2"/>
          <p:cNvSpPr/>
          <p:nvPr/>
        </p:nvSpPr>
        <p:spPr>
          <a:xfrm>
            <a:off x="457200" y="822960"/>
            <a:ext cx="8229600" cy="173736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Measuring the Incremental Effect</a:t>
            </a:r>
            <a:endParaRPr lang="en-US" sz="3800" dirty="0"/>
          </a:p>
          <a:p>
            <a:pPr marL="0" indent="0" algn="ctr">
              <a:buNone/>
            </a:pPr>
            <a:r>
              <a:rPr lang="en-US" sz="3800" b="1" dirty="0">
                <a:solidFill>
                  <a:srgbClr val="FFFFFF"/>
                </a:solidFill>
                <a:latin typeface="Calibri" pitchFamily="34" charset="0"/>
                <a:ea typeface="Calibri" pitchFamily="34" charset="-122"/>
                <a:cs typeface="Calibri" pitchFamily="34" charset="-120"/>
              </a:rPr>
              <a:t>of Digital Advertising</a:t>
            </a:r>
            <a:endParaRPr lang="en-US" sz="3800" dirty="0"/>
          </a:p>
        </p:txBody>
      </p:sp>
      <p:sp>
        <p:nvSpPr>
          <p:cNvPr id="5" name="Text 3"/>
          <p:cNvSpPr/>
          <p:nvPr/>
        </p:nvSpPr>
        <p:spPr>
          <a:xfrm>
            <a:off x="457200" y="2606040"/>
            <a:ext cx="8229600" cy="457200"/>
          </a:xfrm>
          <a:prstGeom prst="rect">
            <a:avLst/>
          </a:prstGeom>
          <a:noFill/>
          <a:ln/>
        </p:spPr>
        <p:txBody>
          <a:bodyPr wrap="square" rtlCol="0" anchor="ctr"/>
          <a:lstStyle/>
          <a:p>
            <a:pPr marL="0" indent="0" algn="ctr">
              <a:buNone/>
            </a:pPr>
            <a:r>
              <a:rPr lang="en-US" sz="1700" i="1" dirty="0">
                <a:solidFill>
                  <a:srgbClr val="DBEAFE"/>
                </a:solidFill>
                <a:latin typeface="Calibri" pitchFamily="34" charset="0"/>
                <a:ea typeface="Calibri" pitchFamily="34" charset="-122"/>
                <a:cs typeface="Calibri" pitchFamily="34" charset="-120"/>
              </a:rPr>
              <a:t>A Causal Inference &amp; Uplift Modelling Approach</a:t>
            </a:r>
            <a:endParaRPr lang="en-US" sz="1700" dirty="0"/>
          </a:p>
        </p:txBody>
      </p:sp>
      <p:sp>
        <p:nvSpPr>
          <p:cNvPr id="6" name="Text 4"/>
          <p:cNvSpPr/>
          <p:nvPr/>
        </p:nvSpPr>
        <p:spPr>
          <a:xfrm>
            <a:off x="457200" y="3703320"/>
            <a:ext cx="8229600" cy="41148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David Abu |  ECON 5140 — Applied Econometrics  |  April 2026</a:t>
            </a:r>
            <a:endParaRPr lang="en-US" sz="1400" dirty="0"/>
          </a:p>
        </p:txBody>
      </p:sp>
      <p:sp>
        <p:nvSpPr>
          <p:cNvPr id="7" name="Text 5"/>
          <p:cNvSpPr/>
          <p:nvPr/>
        </p:nvSpPr>
        <p:spPr>
          <a:xfrm>
            <a:off x="457200" y="4224528"/>
            <a:ext cx="8229600" cy="347472"/>
          </a:xfrm>
          <a:prstGeom prst="rect">
            <a:avLst/>
          </a:prstGeom>
          <a:noFill/>
          <a:ln/>
        </p:spPr>
        <p:txBody>
          <a:bodyPr wrap="square" rtlCol="0" anchor="ctr"/>
          <a:lstStyle/>
          <a:p>
            <a:pPr marL="0" indent="0" algn="ctr">
              <a:buNone/>
            </a:pPr>
            <a:r>
              <a:rPr lang="en-US" sz="1100" dirty="0">
                <a:solidFill>
                  <a:srgbClr val="DBEAFE"/>
                </a:solidFill>
                <a:latin typeface="Calibri" pitchFamily="34" charset="0"/>
                <a:ea typeface="Calibri" pitchFamily="34" charset="-122"/>
                <a:cs typeface="Calibri" pitchFamily="34" charset="-120"/>
              </a:rPr>
              <a:t>Dataset: Criteo Uplift v2.1  |  200,000 users  |  Methods: Diff-in-means · IPW · S-Learner · T-Learner · LightGBM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Agenda</a:t>
            </a:r>
            <a:endParaRPr lang="en-US" sz="2000" dirty="0"/>
          </a:p>
        </p:txBody>
      </p:sp>
      <p:sp>
        <p:nvSpPr>
          <p:cNvPr id="4" name="Shape 2"/>
          <p:cNvSpPr/>
          <p:nvPr/>
        </p:nvSpPr>
        <p:spPr>
          <a:xfrm>
            <a:off x="365760" y="822960"/>
            <a:ext cx="411480" cy="411480"/>
          </a:xfrm>
          <a:prstGeom prst="rect">
            <a:avLst/>
          </a:prstGeom>
          <a:solidFill>
            <a:srgbClr val="1E3A5F"/>
          </a:solidFill>
          <a:ln w="12700">
            <a:solidFill>
              <a:srgbClr val="1E3A5F"/>
            </a:solidFill>
            <a:prstDash val="solid"/>
          </a:ln>
        </p:spPr>
        <p:txBody>
          <a:bodyPr/>
          <a:lstStyle/>
          <a:p>
            <a:endParaRPr lang="en-US"/>
          </a:p>
        </p:txBody>
      </p:sp>
      <p:sp>
        <p:nvSpPr>
          <p:cNvPr id="5" name="Text 3"/>
          <p:cNvSpPr/>
          <p:nvPr/>
        </p:nvSpPr>
        <p:spPr>
          <a:xfrm>
            <a:off x="365760" y="82296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960120" y="832104"/>
            <a:ext cx="3840480" cy="22860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The Marketing Problem</a:t>
            </a:r>
            <a:endParaRPr lang="en-US" sz="1300" dirty="0"/>
          </a:p>
        </p:txBody>
      </p:sp>
      <p:sp>
        <p:nvSpPr>
          <p:cNvPr id="7" name="Text 5"/>
          <p:cNvSpPr/>
          <p:nvPr/>
        </p:nvSpPr>
        <p:spPr>
          <a:xfrm>
            <a:off x="960120" y="1024128"/>
            <a:ext cx="77724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Why uplift modelling — the four user types</a:t>
            </a:r>
            <a:endParaRPr lang="en-US" sz="1000" dirty="0"/>
          </a:p>
        </p:txBody>
      </p:sp>
      <p:sp>
        <p:nvSpPr>
          <p:cNvPr id="8" name="Shape 6"/>
          <p:cNvSpPr/>
          <p:nvPr/>
        </p:nvSpPr>
        <p:spPr>
          <a:xfrm>
            <a:off x="365760" y="1399032"/>
            <a:ext cx="411480" cy="411480"/>
          </a:xfrm>
          <a:prstGeom prst="rect">
            <a:avLst/>
          </a:prstGeom>
          <a:solidFill>
            <a:srgbClr val="1E3A5F"/>
          </a:solidFill>
          <a:ln w="12700">
            <a:solidFill>
              <a:srgbClr val="1E3A5F"/>
            </a:solidFill>
            <a:prstDash val="solid"/>
          </a:ln>
        </p:spPr>
        <p:txBody>
          <a:bodyPr/>
          <a:lstStyle/>
          <a:p>
            <a:endParaRPr lang="en-US"/>
          </a:p>
        </p:txBody>
      </p:sp>
      <p:sp>
        <p:nvSpPr>
          <p:cNvPr id="9" name="Text 7"/>
          <p:cNvSpPr/>
          <p:nvPr/>
        </p:nvSpPr>
        <p:spPr>
          <a:xfrm>
            <a:off x="365760" y="1399032"/>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0" name="Text 8"/>
          <p:cNvSpPr/>
          <p:nvPr/>
        </p:nvSpPr>
        <p:spPr>
          <a:xfrm>
            <a:off x="960120" y="1408176"/>
            <a:ext cx="3840480" cy="22860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Dataset &amp; Experimental Design</a:t>
            </a:r>
            <a:endParaRPr lang="en-US" sz="1300" dirty="0"/>
          </a:p>
        </p:txBody>
      </p:sp>
      <p:sp>
        <p:nvSpPr>
          <p:cNvPr id="11" name="Text 9"/>
          <p:cNvSpPr/>
          <p:nvPr/>
        </p:nvSpPr>
        <p:spPr>
          <a:xfrm>
            <a:off x="960120" y="1600200"/>
            <a:ext cx="77724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Criteo Uplift v2.1 — 13.9M users, RCT design</a:t>
            </a:r>
            <a:endParaRPr lang="en-US" sz="1000" dirty="0"/>
          </a:p>
        </p:txBody>
      </p:sp>
      <p:sp>
        <p:nvSpPr>
          <p:cNvPr id="12" name="Shape 10"/>
          <p:cNvSpPr/>
          <p:nvPr/>
        </p:nvSpPr>
        <p:spPr>
          <a:xfrm>
            <a:off x="365760" y="1975104"/>
            <a:ext cx="411480" cy="411480"/>
          </a:xfrm>
          <a:prstGeom prst="rect">
            <a:avLst/>
          </a:prstGeom>
          <a:solidFill>
            <a:srgbClr val="1E3A5F"/>
          </a:solidFill>
          <a:ln w="12700">
            <a:solidFill>
              <a:srgbClr val="1E3A5F"/>
            </a:solidFill>
            <a:prstDash val="solid"/>
          </a:ln>
        </p:spPr>
        <p:txBody>
          <a:bodyPr/>
          <a:lstStyle/>
          <a:p>
            <a:endParaRPr lang="en-US"/>
          </a:p>
        </p:txBody>
      </p:sp>
      <p:sp>
        <p:nvSpPr>
          <p:cNvPr id="13" name="Text 11"/>
          <p:cNvSpPr/>
          <p:nvPr/>
        </p:nvSpPr>
        <p:spPr>
          <a:xfrm>
            <a:off x="365760" y="1975104"/>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4" name="Text 12"/>
          <p:cNvSpPr/>
          <p:nvPr/>
        </p:nvSpPr>
        <p:spPr>
          <a:xfrm>
            <a:off x="960120" y="1984248"/>
            <a:ext cx="3840480" cy="22860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Average Treatment Effect</a:t>
            </a:r>
            <a:endParaRPr lang="en-US" sz="1300" dirty="0"/>
          </a:p>
        </p:txBody>
      </p:sp>
      <p:sp>
        <p:nvSpPr>
          <p:cNvPr id="15" name="Text 13"/>
          <p:cNvSpPr/>
          <p:nvPr/>
        </p:nvSpPr>
        <p:spPr>
          <a:xfrm>
            <a:off x="960120" y="2176272"/>
            <a:ext cx="77724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Does the ad work on average? (Steps 3 &amp; 4)</a:t>
            </a:r>
            <a:endParaRPr lang="en-US" sz="1000" dirty="0"/>
          </a:p>
        </p:txBody>
      </p:sp>
      <p:sp>
        <p:nvSpPr>
          <p:cNvPr id="16" name="Shape 14"/>
          <p:cNvSpPr/>
          <p:nvPr/>
        </p:nvSpPr>
        <p:spPr>
          <a:xfrm>
            <a:off x="365760" y="2551176"/>
            <a:ext cx="411480" cy="411480"/>
          </a:xfrm>
          <a:prstGeom prst="rect">
            <a:avLst/>
          </a:prstGeom>
          <a:solidFill>
            <a:srgbClr val="1E3A5F"/>
          </a:solidFill>
          <a:ln w="12700">
            <a:solidFill>
              <a:srgbClr val="1E3A5F"/>
            </a:solidFill>
            <a:prstDash val="solid"/>
          </a:ln>
        </p:spPr>
        <p:txBody>
          <a:bodyPr/>
          <a:lstStyle/>
          <a:p>
            <a:endParaRPr lang="en-US"/>
          </a:p>
        </p:txBody>
      </p:sp>
      <p:sp>
        <p:nvSpPr>
          <p:cNvPr id="17" name="Text 15"/>
          <p:cNvSpPr/>
          <p:nvPr/>
        </p:nvSpPr>
        <p:spPr>
          <a:xfrm>
            <a:off x="365760" y="2551176"/>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8" name="Text 16"/>
          <p:cNvSpPr/>
          <p:nvPr/>
        </p:nvSpPr>
        <p:spPr>
          <a:xfrm>
            <a:off x="960120" y="2560320"/>
            <a:ext cx="3840480" cy="22860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CATE Estimation</a:t>
            </a:r>
            <a:endParaRPr lang="en-US" sz="1300" dirty="0"/>
          </a:p>
        </p:txBody>
      </p:sp>
      <p:sp>
        <p:nvSpPr>
          <p:cNvPr id="19" name="Text 17"/>
          <p:cNvSpPr/>
          <p:nvPr/>
        </p:nvSpPr>
        <p:spPr>
          <a:xfrm>
            <a:off x="960120" y="2752344"/>
            <a:ext cx="77724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Who benefits most? S-Learner, T-Learner, LightGBM</a:t>
            </a:r>
            <a:endParaRPr lang="en-US" sz="1000" dirty="0"/>
          </a:p>
        </p:txBody>
      </p:sp>
      <p:sp>
        <p:nvSpPr>
          <p:cNvPr id="20" name="Shape 18"/>
          <p:cNvSpPr/>
          <p:nvPr/>
        </p:nvSpPr>
        <p:spPr>
          <a:xfrm>
            <a:off x="365760" y="3127248"/>
            <a:ext cx="411480" cy="411480"/>
          </a:xfrm>
          <a:prstGeom prst="rect">
            <a:avLst/>
          </a:prstGeom>
          <a:solidFill>
            <a:srgbClr val="1E3A5F"/>
          </a:solidFill>
          <a:ln w="12700">
            <a:solidFill>
              <a:srgbClr val="1E3A5F"/>
            </a:solidFill>
            <a:prstDash val="solid"/>
          </a:ln>
        </p:spPr>
        <p:txBody>
          <a:bodyPr/>
          <a:lstStyle/>
          <a:p>
            <a:endParaRPr lang="en-US"/>
          </a:p>
        </p:txBody>
      </p:sp>
      <p:sp>
        <p:nvSpPr>
          <p:cNvPr id="21" name="Text 19"/>
          <p:cNvSpPr/>
          <p:nvPr/>
        </p:nvSpPr>
        <p:spPr>
          <a:xfrm>
            <a:off x="365760" y="3127248"/>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2" name="Text 20"/>
          <p:cNvSpPr/>
          <p:nvPr/>
        </p:nvSpPr>
        <p:spPr>
          <a:xfrm>
            <a:off x="960120" y="3136392"/>
            <a:ext cx="3840480" cy="22860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Customer Segmentation</a:t>
            </a:r>
            <a:endParaRPr lang="en-US" sz="1300" dirty="0"/>
          </a:p>
        </p:txBody>
      </p:sp>
      <p:sp>
        <p:nvSpPr>
          <p:cNvPr id="23" name="Text 21"/>
          <p:cNvSpPr/>
          <p:nvPr/>
        </p:nvSpPr>
        <p:spPr>
          <a:xfrm>
            <a:off x="960120" y="3328416"/>
            <a:ext cx="77724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Persuadables, Sure Things, Lost Causes, Sleeping Dogs</a:t>
            </a:r>
            <a:endParaRPr lang="en-US" sz="1000" dirty="0"/>
          </a:p>
        </p:txBody>
      </p:sp>
      <p:sp>
        <p:nvSpPr>
          <p:cNvPr id="24" name="Shape 22"/>
          <p:cNvSpPr/>
          <p:nvPr/>
        </p:nvSpPr>
        <p:spPr>
          <a:xfrm>
            <a:off x="365760" y="3703320"/>
            <a:ext cx="411480" cy="411480"/>
          </a:xfrm>
          <a:prstGeom prst="rect">
            <a:avLst/>
          </a:prstGeom>
          <a:solidFill>
            <a:srgbClr val="1E3A5F"/>
          </a:solidFill>
          <a:ln w="12700">
            <a:solidFill>
              <a:srgbClr val="1E3A5F"/>
            </a:solidFill>
            <a:prstDash val="solid"/>
          </a:ln>
        </p:spPr>
        <p:txBody>
          <a:bodyPr/>
          <a:lstStyle/>
          <a:p>
            <a:endParaRPr lang="en-US"/>
          </a:p>
        </p:txBody>
      </p:sp>
      <p:sp>
        <p:nvSpPr>
          <p:cNvPr id="25" name="Text 23"/>
          <p:cNvSpPr/>
          <p:nvPr/>
        </p:nvSpPr>
        <p:spPr>
          <a:xfrm>
            <a:off x="365760" y="370332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26" name="Text 24"/>
          <p:cNvSpPr/>
          <p:nvPr/>
        </p:nvSpPr>
        <p:spPr>
          <a:xfrm>
            <a:off x="960120" y="3712464"/>
            <a:ext cx="3840480" cy="22860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Uplift Curve Evaluation</a:t>
            </a:r>
            <a:endParaRPr lang="en-US" sz="1300" dirty="0"/>
          </a:p>
        </p:txBody>
      </p:sp>
      <p:sp>
        <p:nvSpPr>
          <p:cNvPr id="27" name="Text 25"/>
          <p:cNvSpPr/>
          <p:nvPr/>
        </p:nvSpPr>
        <p:spPr>
          <a:xfrm>
            <a:off x="960120" y="3904488"/>
            <a:ext cx="77724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Qini coefficient &amp; targeting efficiency</a:t>
            </a:r>
            <a:endParaRPr lang="en-US" sz="1000" dirty="0"/>
          </a:p>
        </p:txBody>
      </p:sp>
      <p:sp>
        <p:nvSpPr>
          <p:cNvPr id="28" name="Shape 26"/>
          <p:cNvSpPr/>
          <p:nvPr/>
        </p:nvSpPr>
        <p:spPr>
          <a:xfrm>
            <a:off x="365760" y="4279392"/>
            <a:ext cx="411480" cy="411480"/>
          </a:xfrm>
          <a:prstGeom prst="rect">
            <a:avLst/>
          </a:prstGeom>
          <a:solidFill>
            <a:srgbClr val="1E3A5F"/>
          </a:solidFill>
          <a:ln w="12700">
            <a:solidFill>
              <a:srgbClr val="1E3A5F"/>
            </a:solidFill>
            <a:prstDash val="solid"/>
          </a:ln>
        </p:spPr>
        <p:txBody>
          <a:bodyPr/>
          <a:lstStyle/>
          <a:p>
            <a:endParaRPr lang="en-US"/>
          </a:p>
        </p:txBody>
      </p:sp>
      <p:sp>
        <p:nvSpPr>
          <p:cNvPr id="29" name="Text 27"/>
          <p:cNvSpPr/>
          <p:nvPr/>
        </p:nvSpPr>
        <p:spPr>
          <a:xfrm>
            <a:off x="365760" y="4279392"/>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0" name="Text 28"/>
          <p:cNvSpPr/>
          <p:nvPr/>
        </p:nvSpPr>
        <p:spPr>
          <a:xfrm>
            <a:off x="960120" y="4288536"/>
            <a:ext cx="3840480" cy="22860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Business Recommendations</a:t>
            </a:r>
            <a:endParaRPr lang="en-US" sz="1300" dirty="0"/>
          </a:p>
        </p:txBody>
      </p:sp>
      <p:sp>
        <p:nvSpPr>
          <p:cNvPr id="31" name="Text 29"/>
          <p:cNvSpPr/>
          <p:nvPr/>
        </p:nvSpPr>
        <p:spPr>
          <a:xfrm>
            <a:off x="960120" y="4480560"/>
            <a:ext cx="77724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Actionable targeting strategy</a:t>
            </a:r>
            <a:endParaRPr lang="en-US" sz="1000" dirty="0"/>
          </a:p>
        </p:txBody>
      </p:sp>
      <p:sp>
        <p:nvSpPr>
          <p:cNvPr id="32" name="TextBox 31">
            <a:extLst>
              <a:ext uri="{FF2B5EF4-FFF2-40B4-BE49-F238E27FC236}">
                <a16:creationId xmlns:a16="http://schemas.microsoft.com/office/drawing/2014/main" id="{611E8F8C-B7D7-B0EA-E06F-5A123053DDF8}"/>
              </a:ext>
            </a:extLst>
          </p:cNvPr>
          <p:cNvSpPr txBox="1"/>
          <p:nvPr/>
        </p:nvSpPr>
        <p:spPr>
          <a:xfrm>
            <a:off x="4314878" y="2137705"/>
            <a:ext cx="4342561" cy="646331"/>
          </a:xfrm>
          <a:prstGeom prst="rect">
            <a:avLst/>
          </a:prstGeom>
          <a:noFill/>
        </p:spPr>
        <p:txBody>
          <a:bodyPr wrap="square" rtlCol="0">
            <a:spAutoFit/>
          </a:bodyPr>
          <a:lstStyle/>
          <a:p>
            <a:r>
              <a:rPr lang="en-US" dirty="0">
                <a:hlinkClick r:id="rId3"/>
              </a:rPr>
              <a:t>GITHUB : ECONS_5140/AD </a:t>
            </a:r>
            <a:r>
              <a:rPr lang="en-US" dirty="0" err="1">
                <a:hlinkClick r:id="rId3"/>
              </a:rPr>
              <a:t>ANALYSIS.ipynb</a:t>
            </a:r>
            <a:r>
              <a:rPr lang="en-US" dirty="0">
                <a:hlinkClick r:id="rId3"/>
              </a:rPr>
              <a:t> at main · David-abu/ECONS_5140</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2179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Uplift Modelling? The Core Marketing Problem</a:t>
            </a:r>
            <a:endParaRPr lang="en-US" sz="2200" dirty="0"/>
          </a:p>
        </p:txBody>
      </p:sp>
      <p:sp>
        <p:nvSpPr>
          <p:cNvPr id="4" name="Text 2"/>
          <p:cNvSpPr/>
          <p:nvPr/>
        </p:nvSpPr>
        <p:spPr>
          <a:xfrm>
            <a:off x="320040" y="749808"/>
            <a:ext cx="8503920" cy="411480"/>
          </a:xfrm>
          <a:prstGeom prst="rect">
            <a:avLst/>
          </a:prstGeom>
          <a:noFill/>
          <a:ln/>
        </p:spPr>
        <p:txBody>
          <a:bodyPr wrap="square" rtlCol="0" anchor="ctr"/>
          <a:lstStyle/>
          <a:p>
            <a:pPr marL="0" indent="0" algn="ctr">
              <a:buNone/>
            </a:pPr>
            <a:r>
              <a:rPr lang="en-US" sz="1200" b="1" dirty="0">
                <a:solidFill>
                  <a:srgbClr val="1E3A5F"/>
                </a:solidFill>
                <a:latin typeface="Calibri" pitchFamily="34" charset="0"/>
                <a:ea typeface="Calibri" pitchFamily="34" charset="-122"/>
                <a:cs typeface="Calibri" pitchFamily="34" charset="-120"/>
              </a:rPr>
              <a:t>Traditional targeting asks: who will buy? Uplift modelling asks: whose behaviour CHANGES because of the ad?</a:t>
            </a:r>
            <a:endParaRPr lang="en-US" sz="1200" dirty="0"/>
          </a:p>
        </p:txBody>
      </p:sp>
      <p:sp>
        <p:nvSpPr>
          <p:cNvPr id="5" name="Shape 3"/>
          <p:cNvSpPr/>
          <p:nvPr/>
        </p:nvSpPr>
        <p:spPr>
          <a:xfrm>
            <a:off x="274320" y="1298448"/>
            <a:ext cx="2029968" cy="3520440"/>
          </a:xfrm>
          <a:prstGeom prst="rect">
            <a:avLst/>
          </a:prstGeom>
          <a:solidFill>
            <a:srgbClr val="FFFFFF"/>
          </a:solidFill>
          <a:ln w="12700">
            <a:solidFill>
              <a:srgbClr val="059669"/>
            </a:solidFill>
            <a:prstDash val="solid"/>
          </a:ln>
          <a:effectLst>
            <a:outerShdw blurRad="76200" dist="25400" dir="8100000" algn="bl" rotWithShape="0">
              <a:srgbClr val="000000">
                <a:alpha val="9000"/>
              </a:srgbClr>
            </a:outerShdw>
          </a:effectLst>
        </p:spPr>
        <p:txBody>
          <a:bodyPr/>
          <a:lstStyle/>
          <a:p>
            <a:endParaRPr lang="en-US"/>
          </a:p>
        </p:txBody>
      </p:sp>
      <p:sp>
        <p:nvSpPr>
          <p:cNvPr id="6" name="Shape 4"/>
          <p:cNvSpPr/>
          <p:nvPr/>
        </p:nvSpPr>
        <p:spPr>
          <a:xfrm>
            <a:off x="274320" y="1298448"/>
            <a:ext cx="2029968" cy="475488"/>
          </a:xfrm>
          <a:prstGeom prst="rect">
            <a:avLst/>
          </a:prstGeom>
          <a:solidFill>
            <a:srgbClr val="059669"/>
          </a:solidFill>
          <a:ln w="12700">
            <a:solidFill>
              <a:srgbClr val="059669"/>
            </a:solidFill>
            <a:prstDash val="solid"/>
          </a:ln>
        </p:spPr>
        <p:txBody>
          <a:bodyPr/>
          <a:lstStyle/>
          <a:p>
            <a:endParaRPr lang="en-US"/>
          </a:p>
        </p:txBody>
      </p:sp>
      <p:sp>
        <p:nvSpPr>
          <p:cNvPr id="7" name="Text 5"/>
          <p:cNvSpPr/>
          <p:nvPr/>
        </p:nvSpPr>
        <p:spPr>
          <a:xfrm>
            <a:off x="274320" y="1298448"/>
            <a:ext cx="20299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PERSUADABLES</a:t>
            </a:r>
            <a:endParaRPr lang="en-US" sz="1000" dirty="0"/>
          </a:p>
        </p:txBody>
      </p:sp>
      <p:sp>
        <p:nvSpPr>
          <p:cNvPr id="8" name="Text 6"/>
          <p:cNvSpPr/>
          <p:nvPr/>
        </p:nvSpPr>
        <p:spPr>
          <a:xfrm>
            <a:off x="365760" y="1847088"/>
            <a:ext cx="1847088" cy="548640"/>
          </a:xfrm>
          <a:prstGeom prst="rect">
            <a:avLst/>
          </a:prstGeom>
          <a:noFill/>
          <a:ln/>
        </p:spPr>
        <p:txBody>
          <a:bodyPr wrap="square" rtlCol="0" anchor="ctr"/>
          <a:lstStyle/>
          <a:p>
            <a:pPr marL="0" indent="0" algn="ctr">
              <a:buNone/>
            </a:pPr>
            <a:r>
              <a:rPr lang="en-US" sz="1200" dirty="0">
                <a:solidFill>
                  <a:srgbClr val="374151"/>
                </a:solidFill>
                <a:latin typeface="Calibri" pitchFamily="34" charset="0"/>
                <a:ea typeface="Calibri" pitchFamily="34" charset="-122"/>
                <a:cs typeface="Calibri" pitchFamily="34" charset="-120"/>
              </a:rPr>
              <a:t>Buy only if shown ad</a:t>
            </a:r>
            <a:endParaRPr lang="en-US" sz="1200" dirty="0"/>
          </a:p>
        </p:txBody>
      </p:sp>
      <p:sp>
        <p:nvSpPr>
          <p:cNvPr id="9" name="Text 7"/>
          <p:cNvSpPr/>
          <p:nvPr/>
        </p:nvSpPr>
        <p:spPr>
          <a:xfrm>
            <a:off x="365760" y="2487168"/>
            <a:ext cx="640080" cy="320040"/>
          </a:xfrm>
          <a:prstGeom prst="rect">
            <a:avLst/>
          </a:prstGeom>
          <a:noFill/>
          <a:ln/>
        </p:spPr>
        <p:txBody>
          <a:bodyPr wrap="square"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CATE:</a:t>
            </a:r>
            <a:endParaRPr lang="en-US" sz="1100" dirty="0"/>
          </a:p>
        </p:txBody>
      </p:sp>
      <p:sp>
        <p:nvSpPr>
          <p:cNvPr id="10" name="Text 8"/>
          <p:cNvSpPr/>
          <p:nvPr/>
        </p:nvSpPr>
        <p:spPr>
          <a:xfrm>
            <a:off x="1005840" y="2487168"/>
            <a:ext cx="1188720" cy="320040"/>
          </a:xfrm>
          <a:prstGeom prst="rect">
            <a:avLst/>
          </a:prstGeom>
          <a:noFill/>
          <a:ln/>
        </p:spPr>
        <p:txBody>
          <a:bodyPr wrap="square"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+CATE</a:t>
            </a:r>
            <a:endParaRPr lang="en-US" sz="1400" dirty="0"/>
          </a:p>
        </p:txBody>
      </p:sp>
      <p:sp>
        <p:nvSpPr>
          <p:cNvPr id="11" name="Text 9"/>
          <p:cNvSpPr/>
          <p:nvPr/>
        </p:nvSpPr>
        <p:spPr>
          <a:xfrm>
            <a:off x="320040" y="2907792"/>
            <a:ext cx="1938528" cy="411480"/>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Uplift = P(buy|ad) − P(buy|no ad)</a:t>
            </a:r>
            <a:endParaRPr lang="en-US" sz="900" dirty="0"/>
          </a:p>
        </p:txBody>
      </p:sp>
      <p:sp>
        <p:nvSpPr>
          <p:cNvPr id="12" name="Shape 10"/>
          <p:cNvSpPr/>
          <p:nvPr/>
        </p:nvSpPr>
        <p:spPr>
          <a:xfrm>
            <a:off x="365760" y="3429000"/>
            <a:ext cx="1847088" cy="384048"/>
          </a:xfrm>
          <a:prstGeom prst="rect">
            <a:avLst/>
          </a:prstGeom>
          <a:solidFill>
            <a:srgbClr val="059669"/>
          </a:solidFill>
          <a:ln w="12700">
            <a:solidFill>
              <a:srgbClr val="059669"/>
            </a:solidFill>
            <a:prstDash val="solid"/>
          </a:ln>
        </p:spPr>
        <p:txBody>
          <a:bodyPr/>
          <a:lstStyle/>
          <a:p>
            <a:endParaRPr lang="en-US"/>
          </a:p>
        </p:txBody>
      </p:sp>
      <p:sp>
        <p:nvSpPr>
          <p:cNvPr id="13" name="Text 11"/>
          <p:cNvSpPr/>
          <p:nvPr/>
        </p:nvSpPr>
        <p:spPr>
          <a:xfrm>
            <a:off x="365760" y="3429000"/>
            <a:ext cx="184708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TARGET THESE</a:t>
            </a:r>
            <a:endParaRPr lang="en-US" sz="900" dirty="0"/>
          </a:p>
        </p:txBody>
      </p:sp>
      <p:sp>
        <p:nvSpPr>
          <p:cNvPr id="14" name="Shape 12"/>
          <p:cNvSpPr/>
          <p:nvPr/>
        </p:nvSpPr>
        <p:spPr>
          <a:xfrm>
            <a:off x="2441448" y="1298448"/>
            <a:ext cx="2029968" cy="3520440"/>
          </a:xfrm>
          <a:prstGeom prst="rect">
            <a:avLst/>
          </a:prstGeom>
          <a:solidFill>
            <a:srgbClr val="FFFFFF"/>
          </a:solidFill>
          <a:ln w="12700">
            <a:solidFill>
              <a:srgbClr val="2563EB"/>
            </a:solidFill>
            <a:prstDash val="solid"/>
          </a:ln>
          <a:effectLst>
            <a:outerShdw blurRad="76200" dist="25400" dir="8100000" algn="bl" rotWithShape="0">
              <a:srgbClr val="000000">
                <a:alpha val="9000"/>
              </a:srgbClr>
            </a:outerShdw>
          </a:effectLst>
        </p:spPr>
        <p:txBody>
          <a:bodyPr/>
          <a:lstStyle/>
          <a:p>
            <a:endParaRPr lang="en-US"/>
          </a:p>
        </p:txBody>
      </p:sp>
      <p:sp>
        <p:nvSpPr>
          <p:cNvPr id="15" name="Shape 13"/>
          <p:cNvSpPr/>
          <p:nvPr/>
        </p:nvSpPr>
        <p:spPr>
          <a:xfrm>
            <a:off x="2441448" y="1298448"/>
            <a:ext cx="2029968" cy="475488"/>
          </a:xfrm>
          <a:prstGeom prst="rect">
            <a:avLst/>
          </a:prstGeom>
          <a:solidFill>
            <a:srgbClr val="2563EB"/>
          </a:solidFill>
          <a:ln w="12700">
            <a:solidFill>
              <a:srgbClr val="2563EB"/>
            </a:solidFill>
            <a:prstDash val="solid"/>
          </a:ln>
        </p:spPr>
        <p:txBody>
          <a:bodyPr/>
          <a:lstStyle/>
          <a:p>
            <a:endParaRPr lang="en-US"/>
          </a:p>
        </p:txBody>
      </p:sp>
      <p:sp>
        <p:nvSpPr>
          <p:cNvPr id="16" name="Text 14"/>
          <p:cNvSpPr/>
          <p:nvPr/>
        </p:nvSpPr>
        <p:spPr>
          <a:xfrm>
            <a:off x="2441448" y="1298448"/>
            <a:ext cx="20299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SURE THINGS</a:t>
            </a:r>
            <a:endParaRPr lang="en-US" sz="1000" dirty="0"/>
          </a:p>
        </p:txBody>
      </p:sp>
      <p:sp>
        <p:nvSpPr>
          <p:cNvPr id="17" name="Text 15"/>
          <p:cNvSpPr/>
          <p:nvPr/>
        </p:nvSpPr>
        <p:spPr>
          <a:xfrm>
            <a:off x="2532888" y="1847088"/>
            <a:ext cx="1847088" cy="548640"/>
          </a:xfrm>
          <a:prstGeom prst="rect">
            <a:avLst/>
          </a:prstGeom>
          <a:noFill/>
          <a:ln/>
        </p:spPr>
        <p:txBody>
          <a:bodyPr wrap="square" rtlCol="0" anchor="ctr"/>
          <a:lstStyle/>
          <a:p>
            <a:pPr marL="0" indent="0" algn="ctr">
              <a:buNone/>
            </a:pPr>
            <a:r>
              <a:rPr lang="en-US" sz="1200" dirty="0">
                <a:solidFill>
                  <a:srgbClr val="374151"/>
                </a:solidFill>
                <a:latin typeface="Calibri" pitchFamily="34" charset="0"/>
                <a:ea typeface="Calibri" pitchFamily="34" charset="-122"/>
                <a:cs typeface="Calibri" pitchFamily="34" charset="-120"/>
              </a:rPr>
              <a:t>Buy regardless of ad</a:t>
            </a:r>
            <a:endParaRPr lang="en-US" sz="1200" dirty="0"/>
          </a:p>
        </p:txBody>
      </p:sp>
      <p:sp>
        <p:nvSpPr>
          <p:cNvPr id="18" name="Text 16"/>
          <p:cNvSpPr/>
          <p:nvPr/>
        </p:nvSpPr>
        <p:spPr>
          <a:xfrm>
            <a:off x="2532888" y="2487168"/>
            <a:ext cx="640080" cy="320040"/>
          </a:xfrm>
          <a:prstGeom prst="rect">
            <a:avLst/>
          </a:prstGeom>
          <a:noFill/>
          <a:ln/>
        </p:spPr>
        <p:txBody>
          <a:bodyPr wrap="square"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CATE:</a:t>
            </a:r>
            <a:endParaRPr lang="en-US" sz="1100" dirty="0"/>
          </a:p>
        </p:txBody>
      </p:sp>
      <p:sp>
        <p:nvSpPr>
          <p:cNvPr id="19" name="Text 17"/>
          <p:cNvSpPr/>
          <p:nvPr/>
        </p:nvSpPr>
        <p:spPr>
          <a:xfrm>
            <a:off x="3172968" y="2487168"/>
            <a:ext cx="1188720" cy="320040"/>
          </a:xfrm>
          <a:prstGeom prst="rect">
            <a:avLst/>
          </a:prstGeom>
          <a:noFill/>
          <a:ln/>
        </p:spPr>
        <p:txBody>
          <a:bodyPr wrap="square" rtlCol="0" anchor="ctr"/>
          <a:lstStyle/>
          <a:p>
            <a:pPr marL="0" indent="0">
              <a:buNone/>
            </a:pPr>
            <a:r>
              <a:rPr lang="en-US" sz="1400" b="1" dirty="0">
                <a:solidFill>
                  <a:srgbClr val="2563EB"/>
                </a:solidFill>
                <a:latin typeface="Calibri" pitchFamily="34" charset="0"/>
                <a:ea typeface="Calibri" pitchFamily="34" charset="-122"/>
                <a:cs typeface="Calibri" pitchFamily="34" charset="-120"/>
              </a:rPr>
              <a:t>≈0 CATE</a:t>
            </a:r>
            <a:endParaRPr lang="en-US" sz="1400" dirty="0"/>
          </a:p>
        </p:txBody>
      </p:sp>
      <p:sp>
        <p:nvSpPr>
          <p:cNvPr id="20" name="Text 18"/>
          <p:cNvSpPr/>
          <p:nvPr/>
        </p:nvSpPr>
        <p:spPr>
          <a:xfrm>
            <a:off x="2487168" y="2907792"/>
            <a:ext cx="1938528" cy="411480"/>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Uplift = P(buy|ad) − P(buy|no ad)</a:t>
            </a:r>
            <a:endParaRPr lang="en-US" sz="900" dirty="0"/>
          </a:p>
        </p:txBody>
      </p:sp>
      <p:sp>
        <p:nvSpPr>
          <p:cNvPr id="21" name="Shape 19"/>
          <p:cNvSpPr/>
          <p:nvPr/>
        </p:nvSpPr>
        <p:spPr>
          <a:xfrm>
            <a:off x="2532888" y="3429000"/>
            <a:ext cx="1847088" cy="384048"/>
          </a:xfrm>
          <a:prstGeom prst="rect">
            <a:avLst/>
          </a:prstGeom>
          <a:solidFill>
            <a:srgbClr val="2563EB"/>
          </a:solidFill>
          <a:ln w="12700">
            <a:solidFill>
              <a:srgbClr val="2563EB"/>
            </a:solidFill>
            <a:prstDash val="solid"/>
          </a:ln>
        </p:spPr>
        <p:txBody>
          <a:bodyPr/>
          <a:lstStyle/>
          <a:p>
            <a:endParaRPr lang="en-US"/>
          </a:p>
        </p:txBody>
      </p:sp>
      <p:sp>
        <p:nvSpPr>
          <p:cNvPr id="22" name="Text 20"/>
          <p:cNvSpPr/>
          <p:nvPr/>
        </p:nvSpPr>
        <p:spPr>
          <a:xfrm>
            <a:off x="2532888" y="3429000"/>
            <a:ext cx="184708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SKIP — waste budget</a:t>
            </a:r>
            <a:endParaRPr lang="en-US" sz="900" dirty="0"/>
          </a:p>
        </p:txBody>
      </p:sp>
      <p:sp>
        <p:nvSpPr>
          <p:cNvPr id="23" name="Shape 21"/>
          <p:cNvSpPr/>
          <p:nvPr/>
        </p:nvSpPr>
        <p:spPr>
          <a:xfrm>
            <a:off x="4608576" y="1298448"/>
            <a:ext cx="2029968" cy="3520440"/>
          </a:xfrm>
          <a:prstGeom prst="rect">
            <a:avLst/>
          </a:prstGeom>
          <a:solidFill>
            <a:srgbClr val="FFFFFF"/>
          </a:solidFill>
          <a:ln w="12700">
            <a:solidFill>
              <a:srgbClr val="6B7280"/>
            </a:solidFill>
            <a:prstDash val="solid"/>
          </a:ln>
          <a:effectLst>
            <a:outerShdw blurRad="76200" dist="25400" dir="8100000" algn="bl" rotWithShape="0">
              <a:srgbClr val="000000">
                <a:alpha val="9000"/>
              </a:srgbClr>
            </a:outerShdw>
          </a:effectLst>
        </p:spPr>
        <p:txBody>
          <a:bodyPr/>
          <a:lstStyle/>
          <a:p>
            <a:endParaRPr lang="en-US"/>
          </a:p>
        </p:txBody>
      </p:sp>
      <p:sp>
        <p:nvSpPr>
          <p:cNvPr id="24" name="Shape 22"/>
          <p:cNvSpPr/>
          <p:nvPr/>
        </p:nvSpPr>
        <p:spPr>
          <a:xfrm>
            <a:off x="4608576" y="1298448"/>
            <a:ext cx="2029968" cy="475488"/>
          </a:xfrm>
          <a:prstGeom prst="rect">
            <a:avLst/>
          </a:prstGeom>
          <a:solidFill>
            <a:srgbClr val="6B7280"/>
          </a:solidFill>
          <a:ln w="12700">
            <a:solidFill>
              <a:srgbClr val="6B7280"/>
            </a:solidFill>
            <a:prstDash val="solid"/>
          </a:ln>
        </p:spPr>
        <p:txBody>
          <a:bodyPr/>
          <a:lstStyle/>
          <a:p>
            <a:endParaRPr lang="en-US"/>
          </a:p>
        </p:txBody>
      </p:sp>
      <p:sp>
        <p:nvSpPr>
          <p:cNvPr id="25" name="Text 23"/>
          <p:cNvSpPr/>
          <p:nvPr/>
        </p:nvSpPr>
        <p:spPr>
          <a:xfrm>
            <a:off x="4608576" y="1298448"/>
            <a:ext cx="20299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LOST CAUSES</a:t>
            </a:r>
            <a:endParaRPr lang="en-US" sz="1000" dirty="0"/>
          </a:p>
        </p:txBody>
      </p:sp>
      <p:sp>
        <p:nvSpPr>
          <p:cNvPr id="26" name="Text 24"/>
          <p:cNvSpPr/>
          <p:nvPr/>
        </p:nvSpPr>
        <p:spPr>
          <a:xfrm>
            <a:off x="4700016" y="1847088"/>
            <a:ext cx="1847088" cy="548640"/>
          </a:xfrm>
          <a:prstGeom prst="rect">
            <a:avLst/>
          </a:prstGeom>
          <a:noFill/>
          <a:ln/>
        </p:spPr>
        <p:txBody>
          <a:bodyPr wrap="square" rtlCol="0" anchor="ctr"/>
          <a:lstStyle/>
          <a:p>
            <a:pPr marL="0" indent="0" algn="ctr">
              <a:buNone/>
            </a:pPr>
            <a:r>
              <a:rPr lang="en-US" sz="1200" dirty="0">
                <a:solidFill>
                  <a:srgbClr val="374151"/>
                </a:solidFill>
                <a:latin typeface="Calibri" pitchFamily="34" charset="0"/>
                <a:ea typeface="Calibri" pitchFamily="34" charset="-122"/>
                <a:cs typeface="Calibri" pitchFamily="34" charset="-120"/>
              </a:rPr>
              <a:t>Never buy regardless</a:t>
            </a:r>
            <a:endParaRPr lang="en-US" sz="1200" dirty="0"/>
          </a:p>
        </p:txBody>
      </p:sp>
      <p:sp>
        <p:nvSpPr>
          <p:cNvPr id="27" name="Text 25"/>
          <p:cNvSpPr/>
          <p:nvPr/>
        </p:nvSpPr>
        <p:spPr>
          <a:xfrm>
            <a:off x="4700016" y="2487168"/>
            <a:ext cx="640080" cy="320040"/>
          </a:xfrm>
          <a:prstGeom prst="rect">
            <a:avLst/>
          </a:prstGeom>
          <a:noFill/>
          <a:ln/>
        </p:spPr>
        <p:txBody>
          <a:bodyPr wrap="square"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CATE:</a:t>
            </a:r>
            <a:endParaRPr lang="en-US" sz="1100" dirty="0"/>
          </a:p>
        </p:txBody>
      </p:sp>
      <p:sp>
        <p:nvSpPr>
          <p:cNvPr id="28" name="Text 26"/>
          <p:cNvSpPr/>
          <p:nvPr/>
        </p:nvSpPr>
        <p:spPr>
          <a:xfrm>
            <a:off x="5340096" y="2487168"/>
            <a:ext cx="1188720" cy="320040"/>
          </a:xfrm>
          <a:prstGeom prst="rect">
            <a:avLst/>
          </a:prstGeom>
          <a:noFill/>
          <a:ln/>
        </p:spPr>
        <p:txBody>
          <a:bodyPr wrap="square" rtlCol="0" anchor="ctr"/>
          <a:lstStyle/>
          <a:p>
            <a:pPr marL="0" indent="0">
              <a:buNone/>
            </a:pPr>
            <a:r>
              <a:rPr lang="en-US" sz="1400" b="1" dirty="0">
                <a:solidFill>
                  <a:srgbClr val="6B7280"/>
                </a:solidFill>
                <a:latin typeface="Calibri" pitchFamily="34" charset="0"/>
                <a:ea typeface="Calibri" pitchFamily="34" charset="-122"/>
                <a:cs typeface="Calibri" pitchFamily="34" charset="-120"/>
              </a:rPr>
              <a:t>≈0 CATE</a:t>
            </a:r>
            <a:endParaRPr lang="en-US" sz="1400" dirty="0"/>
          </a:p>
        </p:txBody>
      </p:sp>
      <p:sp>
        <p:nvSpPr>
          <p:cNvPr id="29" name="Text 27"/>
          <p:cNvSpPr/>
          <p:nvPr/>
        </p:nvSpPr>
        <p:spPr>
          <a:xfrm>
            <a:off x="4654296" y="2907792"/>
            <a:ext cx="1938528" cy="411480"/>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Uplift = P(buy|ad) − P(buy|no ad)</a:t>
            </a:r>
            <a:endParaRPr lang="en-US" sz="900" dirty="0"/>
          </a:p>
        </p:txBody>
      </p:sp>
      <p:sp>
        <p:nvSpPr>
          <p:cNvPr id="30" name="Shape 28"/>
          <p:cNvSpPr/>
          <p:nvPr/>
        </p:nvSpPr>
        <p:spPr>
          <a:xfrm>
            <a:off x="4700016" y="3429000"/>
            <a:ext cx="1847088" cy="384048"/>
          </a:xfrm>
          <a:prstGeom prst="rect">
            <a:avLst/>
          </a:prstGeom>
          <a:solidFill>
            <a:srgbClr val="6B7280"/>
          </a:solidFill>
          <a:ln w="12700">
            <a:solidFill>
              <a:srgbClr val="6B7280"/>
            </a:solidFill>
            <a:prstDash val="solid"/>
          </a:ln>
        </p:spPr>
        <p:txBody>
          <a:bodyPr/>
          <a:lstStyle/>
          <a:p>
            <a:endParaRPr lang="en-US"/>
          </a:p>
        </p:txBody>
      </p:sp>
      <p:sp>
        <p:nvSpPr>
          <p:cNvPr id="31" name="Text 29"/>
          <p:cNvSpPr/>
          <p:nvPr/>
        </p:nvSpPr>
        <p:spPr>
          <a:xfrm>
            <a:off x="4700016" y="3429000"/>
            <a:ext cx="184708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SKIP — can't help</a:t>
            </a:r>
            <a:endParaRPr lang="en-US" sz="900" dirty="0"/>
          </a:p>
        </p:txBody>
      </p:sp>
      <p:sp>
        <p:nvSpPr>
          <p:cNvPr id="32" name="Shape 30"/>
          <p:cNvSpPr/>
          <p:nvPr/>
        </p:nvSpPr>
        <p:spPr>
          <a:xfrm>
            <a:off x="6775704" y="1298448"/>
            <a:ext cx="2029968" cy="3520440"/>
          </a:xfrm>
          <a:prstGeom prst="rect">
            <a:avLst/>
          </a:prstGeom>
          <a:solidFill>
            <a:srgbClr val="FFFFFF"/>
          </a:solidFill>
          <a:ln w="12700">
            <a:solidFill>
              <a:srgbClr val="DC2626"/>
            </a:solidFill>
            <a:prstDash val="solid"/>
          </a:ln>
          <a:effectLst>
            <a:outerShdw blurRad="76200" dist="25400" dir="8100000" algn="bl" rotWithShape="0">
              <a:srgbClr val="000000">
                <a:alpha val="9000"/>
              </a:srgbClr>
            </a:outerShdw>
          </a:effectLst>
        </p:spPr>
        <p:txBody>
          <a:bodyPr/>
          <a:lstStyle/>
          <a:p>
            <a:endParaRPr lang="en-US"/>
          </a:p>
        </p:txBody>
      </p:sp>
      <p:sp>
        <p:nvSpPr>
          <p:cNvPr id="33" name="Shape 31"/>
          <p:cNvSpPr/>
          <p:nvPr/>
        </p:nvSpPr>
        <p:spPr>
          <a:xfrm>
            <a:off x="6775704" y="1298448"/>
            <a:ext cx="2029968" cy="475488"/>
          </a:xfrm>
          <a:prstGeom prst="rect">
            <a:avLst/>
          </a:prstGeom>
          <a:solidFill>
            <a:srgbClr val="DC2626"/>
          </a:solidFill>
          <a:ln w="12700">
            <a:solidFill>
              <a:srgbClr val="DC2626"/>
            </a:solidFill>
            <a:prstDash val="solid"/>
          </a:ln>
        </p:spPr>
        <p:txBody>
          <a:bodyPr/>
          <a:lstStyle/>
          <a:p>
            <a:endParaRPr lang="en-US"/>
          </a:p>
        </p:txBody>
      </p:sp>
      <p:sp>
        <p:nvSpPr>
          <p:cNvPr id="34" name="Text 32"/>
          <p:cNvSpPr/>
          <p:nvPr/>
        </p:nvSpPr>
        <p:spPr>
          <a:xfrm>
            <a:off x="6775704" y="1298448"/>
            <a:ext cx="2029968"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SLEEPING DOGS</a:t>
            </a:r>
            <a:endParaRPr lang="en-US" sz="1000" dirty="0"/>
          </a:p>
        </p:txBody>
      </p:sp>
      <p:sp>
        <p:nvSpPr>
          <p:cNvPr id="35" name="Text 33"/>
          <p:cNvSpPr/>
          <p:nvPr/>
        </p:nvSpPr>
        <p:spPr>
          <a:xfrm>
            <a:off x="6867144" y="1847088"/>
            <a:ext cx="1847088" cy="548640"/>
          </a:xfrm>
          <a:prstGeom prst="rect">
            <a:avLst/>
          </a:prstGeom>
          <a:noFill/>
          <a:ln/>
        </p:spPr>
        <p:txBody>
          <a:bodyPr wrap="square" rtlCol="0" anchor="ctr"/>
          <a:lstStyle/>
          <a:p>
            <a:pPr marL="0" indent="0" algn="ctr">
              <a:buNone/>
            </a:pPr>
            <a:r>
              <a:rPr lang="en-US" sz="1200" dirty="0">
                <a:solidFill>
                  <a:srgbClr val="374151"/>
                </a:solidFill>
                <a:latin typeface="Calibri" pitchFamily="34" charset="0"/>
                <a:ea typeface="Calibri" pitchFamily="34" charset="-122"/>
                <a:cs typeface="Calibri" pitchFamily="34" charset="-120"/>
              </a:rPr>
              <a:t>Ad REDUCES purchase</a:t>
            </a:r>
            <a:endParaRPr lang="en-US" sz="1200" dirty="0"/>
          </a:p>
        </p:txBody>
      </p:sp>
      <p:sp>
        <p:nvSpPr>
          <p:cNvPr id="36" name="Text 34"/>
          <p:cNvSpPr/>
          <p:nvPr/>
        </p:nvSpPr>
        <p:spPr>
          <a:xfrm>
            <a:off x="6867144" y="2487168"/>
            <a:ext cx="640080" cy="320040"/>
          </a:xfrm>
          <a:prstGeom prst="rect">
            <a:avLst/>
          </a:prstGeom>
          <a:noFill/>
          <a:ln/>
        </p:spPr>
        <p:txBody>
          <a:bodyPr wrap="square"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CATE:</a:t>
            </a:r>
            <a:endParaRPr lang="en-US" sz="1100" dirty="0"/>
          </a:p>
        </p:txBody>
      </p:sp>
      <p:sp>
        <p:nvSpPr>
          <p:cNvPr id="37" name="Text 35"/>
          <p:cNvSpPr/>
          <p:nvPr/>
        </p:nvSpPr>
        <p:spPr>
          <a:xfrm>
            <a:off x="7507224" y="2487168"/>
            <a:ext cx="1188720" cy="320040"/>
          </a:xfrm>
          <a:prstGeom prst="rect">
            <a:avLst/>
          </a:prstGeom>
          <a:noFill/>
          <a:ln/>
        </p:spPr>
        <p:txBody>
          <a:bodyPr wrap="square"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−CATE</a:t>
            </a:r>
            <a:endParaRPr lang="en-US" sz="1400" dirty="0"/>
          </a:p>
        </p:txBody>
      </p:sp>
      <p:sp>
        <p:nvSpPr>
          <p:cNvPr id="38" name="Text 36"/>
          <p:cNvSpPr/>
          <p:nvPr/>
        </p:nvSpPr>
        <p:spPr>
          <a:xfrm>
            <a:off x="6821424" y="2907792"/>
            <a:ext cx="1938528" cy="411480"/>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Uplift = P(buy|ad) − P(buy|no ad)</a:t>
            </a:r>
            <a:endParaRPr lang="en-US" sz="900" dirty="0"/>
          </a:p>
        </p:txBody>
      </p:sp>
      <p:sp>
        <p:nvSpPr>
          <p:cNvPr id="39" name="Shape 37"/>
          <p:cNvSpPr/>
          <p:nvPr/>
        </p:nvSpPr>
        <p:spPr>
          <a:xfrm>
            <a:off x="6867144" y="3429000"/>
            <a:ext cx="1847088" cy="384048"/>
          </a:xfrm>
          <a:prstGeom prst="rect">
            <a:avLst/>
          </a:prstGeom>
          <a:solidFill>
            <a:srgbClr val="DC2626"/>
          </a:solidFill>
          <a:ln w="12700">
            <a:solidFill>
              <a:srgbClr val="DC2626"/>
            </a:solidFill>
            <a:prstDash val="solid"/>
          </a:ln>
        </p:spPr>
        <p:txBody>
          <a:bodyPr/>
          <a:lstStyle/>
          <a:p>
            <a:endParaRPr lang="en-US"/>
          </a:p>
        </p:txBody>
      </p:sp>
      <p:sp>
        <p:nvSpPr>
          <p:cNvPr id="40" name="Text 38"/>
          <p:cNvSpPr/>
          <p:nvPr/>
        </p:nvSpPr>
        <p:spPr>
          <a:xfrm>
            <a:off x="6867144" y="3429000"/>
            <a:ext cx="1847088"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AVOID — causes harm</a:t>
            </a:r>
            <a:endParaRPr lang="en-US" sz="900" dirty="0"/>
          </a:p>
        </p:txBody>
      </p:sp>
      <p:sp>
        <p:nvSpPr>
          <p:cNvPr id="41" name="Shape 39"/>
          <p:cNvSpPr/>
          <p:nvPr/>
        </p:nvSpPr>
        <p:spPr>
          <a:xfrm>
            <a:off x="274320" y="4818888"/>
            <a:ext cx="8595360" cy="256032"/>
          </a:xfrm>
          <a:prstGeom prst="rect">
            <a:avLst/>
          </a:prstGeom>
          <a:solidFill>
            <a:srgbClr val="DBEAFE"/>
          </a:solidFill>
          <a:ln w="12700">
            <a:solidFill>
              <a:srgbClr val="2563EB"/>
            </a:solidFill>
            <a:prstDash val="solid"/>
          </a:ln>
        </p:spPr>
        <p:txBody>
          <a:bodyPr/>
          <a:lstStyle/>
          <a:p>
            <a:endParaRPr lang="en-US"/>
          </a:p>
        </p:txBody>
      </p:sp>
      <p:sp>
        <p:nvSpPr>
          <p:cNvPr id="42" name="Text 40"/>
          <p:cNvSpPr/>
          <p:nvPr/>
        </p:nvSpPr>
        <p:spPr>
          <a:xfrm>
            <a:off x="274320" y="4818888"/>
            <a:ext cx="8595360" cy="256032"/>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RQ1: What is the average causal effect of the ad?  |  RQ2: Which users benefit most — and who should we avoid?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2179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&amp; Experimental Design</a:t>
            </a:r>
            <a:endParaRPr lang="en-US" sz="2200" dirty="0"/>
          </a:p>
        </p:txBody>
      </p:sp>
      <p:sp>
        <p:nvSpPr>
          <p:cNvPr id="4" name="Shape 2"/>
          <p:cNvSpPr/>
          <p:nvPr/>
        </p:nvSpPr>
        <p:spPr>
          <a:xfrm>
            <a:off x="7818120" y="91440"/>
            <a:ext cx="1143000" cy="438912"/>
          </a:xfrm>
          <a:prstGeom prst="rect">
            <a:avLst/>
          </a:prstGeom>
          <a:solidFill>
            <a:srgbClr val="2563EB"/>
          </a:solidFill>
          <a:ln w="12700">
            <a:solidFill>
              <a:srgbClr val="2563EB"/>
            </a:solidFill>
            <a:prstDash val="solid"/>
          </a:ln>
        </p:spPr>
        <p:txBody>
          <a:bodyPr/>
          <a:lstStyle/>
          <a:p>
            <a:endParaRPr lang="en-US"/>
          </a:p>
        </p:txBody>
      </p:sp>
      <p:sp>
        <p:nvSpPr>
          <p:cNvPr id="5" name="Text 3"/>
          <p:cNvSpPr/>
          <p:nvPr/>
        </p:nvSpPr>
        <p:spPr>
          <a:xfrm>
            <a:off x="7818120" y="91440"/>
            <a:ext cx="11430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a:t>
            </a:r>
            <a:endParaRPr lang="en-US" sz="900" dirty="0"/>
          </a:p>
        </p:txBody>
      </p:sp>
      <p:sp>
        <p:nvSpPr>
          <p:cNvPr id="6" name="Shape 4"/>
          <p:cNvSpPr/>
          <p:nvPr/>
        </p:nvSpPr>
        <p:spPr>
          <a:xfrm>
            <a:off x="274320" y="749808"/>
            <a:ext cx="1965960" cy="96012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7" name="Text 5"/>
          <p:cNvSpPr/>
          <p:nvPr/>
        </p:nvSpPr>
        <p:spPr>
          <a:xfrm>
            <a:off x="274320" y="795528"/>
            <a:ext cx="1965960" cy="528066"/>
          </a:xfrm>
          <a:prstGeom prst="rect">
            <a:avLst/>
          </a:prstGeom>
          <a:noFill/>
          <a:ln/>
        </p:spPr>
        <p:txBody>
          <a:bodyPr wrap="square" rtlCol="0" anchor="b"/>
          <a:lstStyle/>
          <a:p>
            <a:pPr marL="0" indent="0" algn="ctr">
              <a:buNone/>
            </a:pPr>
            <a:r>
              <a:rPr lang="en-US" sz="2800" b="1" dirty="0">
                <a:solidFill>
                  <a:srgbClr val="1E3A5F"/>
                </a:solidFill>
                <a:latin typeface="Calibri" pitchFamily="34" charset="0"/>
                <a:ea typeface="Calibri" pitchFamily="34" charset="-122"/>
                <a:cs typeface="Calibri" pitchFamily="34" charset="-120"/>
              </a:rPr>
              <a:t>13.9M</a:t>
            </a:r>
            <a:endParaRPr lang="en-US" sz="2800" dirty="0"/>
          </a:p>
        </p:txBody>
      </p:sp>
      <p:sp>
        <p:nvSpPr>
          <p:cNvPr id="8" name="Text 6"/>
          <p:cNvSpPr/>
          <p:nvPr/>
        </p:nvSpPr>
        <p:spPr>
          <a:xfrm>
            <a:off x="274320" y="1277874"/>
            <a:ext cx="1965960" cy="384048"/>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Total users</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(full dataset)</a:t>
            </a:r>
            <a:endParaRPr lang="en-US" sz="1000" dirty="0"/>
          </a:p>
        </p:txBody>
      </p:sp>
      <p:sp>
        <p:nvSpPr>
          <p:cNvPr id="9" name="Shape 7"/>
          <p:cNvSpPr/>
          <p:nvPr/>
        </p:nvSpPr>
        <p:spPr>
          <a:xfrm>
            <a:off x="2441448" y="749808"/>
            <a:ext cx="1965960" cy="96012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0" name="Text 8"/>
          <p:cNvSpPr/>
          <p:nvPr/>
        </p:nvSpPr>
        <p:spPr>
          <a:xfrm>
            <a:off x="2441448" y="795528"/>
            <a:ext cx="1965960" cy="528066"/>
          </a:xfrm>
          <a:prstGeom prst="rect">
            <a:avLst/>
          </a:prstGeom>
          <a:noFill/>
          <a:ln/>
        </p:spPr>
        <p:txBody>
          <a:bodyPr wrap="square" rtlCol="0" anchor="b"/>
          <a:lstStyle/>
          <a:p>
            <a:pPr marL="0" indent="0" algn="ctr">
              <a:buNone/>
            </a:pPr>
            <a:r>
              <a:rPr lang="en-US" sz="2800" b="1" dirty="0">
                <a:solidFill>
                  <a:srgbClr val="2563EB"/>
                </a:solidFill>
                <a:latin typeface="Calibri" pitchFamily="34" charset="0"/>
                <a:ea typeface="Calibri" pitchFamily="34" charset="-122"/>
                <a:cs typeface="Calibri" pitchFamily="34" charset="-120"/>
              </a:rPr>
              <a:t>200K</a:t>
            </a:r>
            <a:endParaRPr lang="en-US" sz="2800" dirty="0"/>
          </a:p>
        </p:txBody>
      </p:sp>
      <p:sp>
        <p:nvSpPr>
          <p:cNvPr id="11" name="Text 9"/>
          <p:cNvSpPr/>
          <p:nvPr/>
        </p:nvSpPr>
        <p:spPr>
          <a:xfrm>
            <a:off x="2441448" y="1277874"/>
            <a:ext cx="1965960" cy="384048"/>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Sample used</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(seed=42)</a:t>
            </a:r>
            <a:endParaRPr lang="en-US" sz="1000" dirty="0"/>
          </a:p>
        </p:txBody>
      </p:sp>
      <p:sp>
        <p:nvSpPr>
          <p:cNvPr id="12" name="Shape 10"/>
          <p:cNvSpPr/>
          <p:nvPr/>
        </p:nvSpPr>
        <p:spPr>
          <a:xfrm>
            <a:off x="4608576" y="749808"/>
            <a:ext cx="1965960" cy="96012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3" name="Text 11"/>
          <p:cNvSpPr/>
          <p:nvPr/>
        </p:nvSpPr>
        <p:spPr>
          <a:xfrm>
            <a:off x="4608576" y="795528"/>
            <a:ext cx="1965960" cy="528066"/>
          </a:xfrm>
          <a:prstGeom prst="rect">
            <a:avLst/>
          </a:prstGeom>
          <a:noFill/>
          <a:ln/>
        </p:spPr>
        <p:txBody>
          <a:bodyPr wrap="square" rtlCol="0" anchor="b"/>
          <a:lstStyle/>
          <a:p>
            <a:pPr marL="0" indent="0" algn="ctr">
              <a:buNone/>
            </a:pPr>
            <a:r>
              <a:rPr lang="en-US" sz="2800" b="1" dirty="0">
                <a:solidFill>
                  <a:srgbClr val="059669"/>
                </a:solidFill>
                <a:latin typeface="Calibri" pitchFamily="34" charset="0"/>
                <a:ea typeface="Calibri" pitchFamily="34" charset="-122"/>
                <a:cs typeface="Calibri" pitchFamily="34" charset="-120"/>
              </a:rPr>
              <a:t>85/15</a:t>
            </a:r>
            <a:endParaRPr lang="en-US" sz="2800" dirty="0"/>
          </a:p>
        </p:txBody>
      </p:sp>
      <p:sp>
        <p:nvSpPr>
          <p:cNvPr id="14" name="Text 12"/>
          <p:cNvSpPr/>
          <p:nvPr/>
        </p:nvSpPr>
        <p:spPr>
          <a:xfrm>
            <a:off x="4608576" y="1277874"/>
            <a:ext cx="1965960" cy="384048"/>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Treat/Control</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split</a:t>
            </a:r>
            <a:endParaRPr lang="en-US" sz="1000" dirty="0"/>
          </a:p>
        </p:txBody>
      </p:sp>
      <p:sp>
        <p:nvSpPr>
          <p:cNvPr id="15" name="Shape 13"/>
          <p:cNvSpPr/>
          <p:nvPr/>
        </p:nvSpPr>
        <p:spPr>
          <a:xfrm>
            <a:off x="6775704" y="749808"/>
            <a:ext cx="1965960" cy="96012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6" name="Text 14"/>
          <p:cNvSpPr/>
          <p:nvPr/>
        </p:nvSpPr>
        <p:spPr>
          <a:xfrm>
            <a:off x="6775704" y="795528"/>
            <a:ext cx="1965960" cy="528066"/>
          </a:xfrm>
          <a:prstGeom prst="rect">
            <a:avLst/>
          </a:prstGeom>
          <a:noFill/>
          <a:ln/>
        </p:spPr>
        <p:txBody>
          <a:bodyPr wrap="square" rtlCol="0" anchor="b"/>
          <a:lstStyle/>
          <a:p>
            <a:pPr marL="0" indent="0" algn="ctr">
              <a:buNone/>
            </a:pPr>
            <a:r>
              <a:rPr lang="en-US" sz="2800" b="1" dirty="0">
                <a:solidFill>
                  <a:srgbClr val="059669"/>
                </a:solidFill>
                <a:latin typeface="Calibri" pitchFamily="34" charset="0"/>
                <a:ea typeface="Calibri" pitchFamily="34" charset="-122"/>
                <a:cs typeface="Calibri" pitchFamily="34" charset="-120"/>
              </a:rPr>
              <a:t>0.51</a:t>
            </a:r>
            <a:endParaRPr lang="en-US" sz="2800" dirty="0"/>
          </a:p>
        </p:txBody>
      </p:sp>
      <p:sp>
        <p:nvSpPr>
          <p:cNvPr id="17" name="Text 15"/>
          <p:cNvSpPr/>
          <p:nvPr/>
        </p:nvSpPr>
        <p:spPr>
          <a:xfrm>
            <a:off x="6775704" y="1277874"/>
            <a:ext cx="1965960" cy="384048"/>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Propensity AUC</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 random — confirms RCT)</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74320" y="1828800"/>
          <a:ext cx="5120640" cy="2468880"/>
        </p:xfrm>
        <a:graphic>
          <a:graphicData uri="http://schemas.openxmlformats.org/drawingml/2006/table">
            <a:tbl>
              <a:tblPr/>
              <a:tblGrid>
                <a:gridCol w="13716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4114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114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treatment</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 = ad auction entered; 0 = control (held out)</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exposure</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 = user actually saw the ad</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visit</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 = visited retailer site  ← PRIMARY OUTCOME (4.85%)</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conversion</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 = made a purchase  ← SECONDARY OUTCOME (0.29%)</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f0 – f11</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12 anonymous float features (anonymised for privacy)</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9" name="Image 0" descr="/home/claude/paper/fig1_treatment_split.png"/>
          <p:cNvPicPr>
            <a:picLocks noChangeAspect="1"/>
          </p:cNvPicPr>
          <p:nvPr/>
        </p:nvPicPr>
        <p:blipFill>
          <a:blip r:embed="rId3"/>
          <a:srcRect/>
          <a:stretch/>
        </p:blipFill>
        <p:spPr>
          <a:xfrm>
            <a:off x="5532120" y="1828800"/>
            <a:ext cx="3337560" cy="3017520"/>
          </a:xfrm>
          <a:prstGeom prst="rect">
            <a:avLst/>
          </a:prstGeom>
        </p:spPr>
      </p:pic>
      <p:sp>
        <p:nvSpPr>
          <p:cNvPr id="20" name="Text 16"/>
          <p:cNvSpPr/>
          <p:nvPr/>
        </p:nvSpPr>
        <p:spPr>
          <a:xfrm>
            <a:off x="5532120" y="4873752"/>
            <a:ext cx="3337560" cy="201168"/>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Fig 1 — 85% treated / 15% control (randomised)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2179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First Evidence: The Ad Works</a:t>
            </a:r>
            <a:endParaRPr lang="en-US" sz="2200" dirty="0"/>
          </a:p>
        </p:txBody>
      </p:sp>
      <p:sp>
        <p:nvSpPr>
          <p:cNvPr id="4" name="Shape 2"/>
          <p:cNvSpPr/>
          <p:nvPr/>
        </p:nvSpPr>
        <p:spPr>
          <a:xfrm>
            <a:off x="7818120" y="91440"/>
            <a:ext cx="1143000" cy="438912"/>
          </a:xfrm>
          <a:prstGeom prst="rect">
            <a:avLst/>
          </a:prstGeom>
          <a:solidFill>
            <a:srgbClr val="2563EB"/>
          </a:solidFill>
          <a:ln w="12700">
            <a:solidFill>
              <a:srgbClr val="2563EB"/>
            </a:solidFill>
            <a:prstDash val="solid"/>
          </a:ln>
        </p:spPr>
        <p:txBody>
          <a:bodyPr/>
          <a:lstStyle/>
          <a:p>
            <a:endParaRPr lang="en-US"/>
          </a:p>
        </p:txBody>
      </p:sp>
      <p:sp>
        <p:nvSpPr>
          <p:cNvPr id="5" name="Text 3"/>
          <p:cNvSpPr/>
          <p:nvPr/>
        </p:nvSpPr>
        <p:spPr>
          <a:xfrm>
            <a:off x="7818120" y="91440"/>
            <a:ext cx="11430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EDA</a:t>
            </a:r>
            <a:endParaRPr lang="en-US" sz="900" dirty="0"/>
          </a:p>
        </p:txBody>
      </p:sp>
      <p:pic>
        <p:nvPicPr>
          <p:cNvPr id="6" name="Image 0" descr="/home/claude/paper/fig2_outcome_rates.png"/>
          <p:cNvPicPr>
            <a:picLocks noChangeAspect="1"/>
          </p:cNvPicPr>
          <p:nvPr/>
        </p:nvPicPr>
        <p:blipFill>
          <a:blip r:embed="rId3"/>
          <a:srcRect/>
          <a:stretch/>
        </p:blipFill>
        <p:spPr>
          <a:xfrm>
            <a:off x="320040" y="749808"/>
            <a:ext cx="8503920" cy="3931920"/>
          </a:xfrm>
          <a:prstGeom prst="rect">
            <a:avLst/>
          </a:prstGeom>
        </p:spPr>
      </p:pic>
      <p:sp>
        <p:nvSpPr>
          <p:cNvPr id="7" name="Text 4"/>
          <p:cNvSpPr/>
          <p:nvPr/>
        </p:nvSpPr>
        <p:spPr>
          <a:xfrm>
            <a:off x="320040" y="4736592"/>
            <a:ext cx="8503920" cy="292608"/>
          </a:xfrm>
          <a:prstGeom prst="rect">
            <a:avLst/>
          </a:prstGeom>
          <a:noFill/>
          <a:ln/>
        </p:spPr>
        <p:txBody>
          <a:bodyPr wrap="square"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Figure 2 — Visit rate: 3.88% (control) vs 4.91% (treatment) = +26.4% lift  |  Conversion: 0.18% vs 0.35% = +93.0% lift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2179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Average Treatment Effect — Formal Statistical Test</a:t>
            </a:r>
            <a:endParaRPr lang="en-US" sz="2200" dirty="0"/>
          </a:p>
        </p:txBody>
      </p:sp>
      <p:sp>
        <p:nvSpPr>
          <p:cNvPr id="4" name="Shape 2"/>
          <p:cNvSpPr/>
          <p:nvPr/>
        </p:nvSpPr>
        <p:spPr>
          <a:xfrm>
            <a:off x="7818120" y="91440"/>
            <a:ext cx="1143000" cy="438912"/>
          </a:xfrm>
          <a:prstGeom prst="rect">
            <a:avLst/>
          </a:prstGeom>
          <a:solidFill>
            <a:srgbClr val="2563EB"/>
          </a:solidFill>
          <a:ln w="12700">
            <a:solidFill>
              <a:srgbClr val="2563EB"/>
            </a:solidFill>
            <a:prstDash val="solid"/>
          </a:ln>
        </p:spPr>
        <p:txBody>
          <a:bodyPr/>
          <a:lstStyle/>
          <a:p>
            <a:endParaRPr lang="en-US"/>
          </a:p>
        </p:txBody>
      </p:sp>
      <p:sp>
        <p:nvSpPr>
          <p:cNvPr id="5" name="Text 3"/>
          <p:cNvSpPr/>
          <p:nvPr/>
        </p:nvSpPr>
        <p:spPr>
          <a:xfrm>
            <a:off x="7818120" y="91440"/>
            <a:ext cx="11430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ATE</a:t>
            </a:r>
            <a:endParaRPr lang="en-US" sz="900" dirty="0"/>
          </a:p>
        </p:txBody>
      </p:sp>
      <p:sp>
        <p:nvSpPr>
          <p:cNvPr id="6" name="Text 4"/>
          <p:cNvSpPr/>
          <p:nvPr/>
        </p:nvSpPr>
        <p:spPr>
          <a:xfrm>
            <a:off x="320040" y="749808"/>
            <a:ext cx="8503920" cy="347472"/>
          </a:xfrm>
          <a:prstGeom prst="rect">
            <a:avLst/>
          </a:prstGeom>
          <a:noFill/>
          <a:ln/>
        </p:spPr>
        <p:txBody>
          <a:bodyPr wrap="square" rtlCol="0" anchor="ctr"/>
          <a:lstStyle/>
          <a:p>
            <a:pPr marL="0" indent="0">
              <a:buNone/>
            </a:pPr>
            <a:r>
              <a:rPr lang="en-US" sz="1200" i="1" dirty="0">
                <a:solidFill>
                  <a:srgbClr val="374151"/>
                </a:solidFill>
                <a:latin typeface="Calibri" pitchFamily="34" charset="0"/>
                <a:ea typeface="Calibri" pitchFamily="34" charset="-122"/>
                <a:cs typeface="Calibri" pitchFamily="34" charset="-120"/>
              </a:rPr>
              <a:t>Because this is a randomised experiment, simple difference-in-means IS our causal estimate.</a:t>
            </a:r>
            <a:endParaRPr lang="en-US" sz="1200" dirty="0"/>
          </a:p>
        </p:txBody>
      </p:sp>
      <p:sp>
        <p:nvSpPr>
          <p:cNvPr id="7" name="Shape 5"/>
          <p:cNvSpPr/>
          <p:nvPr/>
        </p:nvSpPr>
        <p:spPr>
          <a:xfrm>
            <a:off x="182880" y="1133856"/>
            <a:ext cx="1737360" cy="91440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8" name="Text 6"/>
          <p:cNvSpPr/>
          <p:nvPr/>
        </p:nvSpPr>
        <p:spPr>
          <a:xfrm>
            <a:off x="320040" y="1216152"/>
            <a:ext cx="1737360" cy="502920"/>
          </a:xfrm>
          <a:prstGeom prst="rect">
            <a:avLst/>
          </a:prstGeom>
          <a:noFill/>
          <a:ln/>
        </p:spPr>
        <p:txBody>
          <a:bodyPr wrap="square" rtlCol="0" anchor="b"/>
          <a:lstStyle/>
          <a:p>
            <a:pPr marL="0" indent="0" algn="ctr">
              <a:buNone/>
            </a:pPr>
            <a:r>
              <a:rPr lang="en-US" sz="2800" b="1" dirty="0">
                <a:solidFill>
                  <a:srgbClr val="059669"/>
                </a:solidFill>
                <a:latin typeface="Calibri" pitchFamily="34" charset="0"/>
                <a:ea typeface="Calibri" pitchFamily="34" charset="-122"/>
                <a:cs typeface="Calibri" pitchFamily="34" charset="-120"/>
              </a:rPr>
              <a:t>+0.0103</a:t>
            </a:r>
            <a:endParaRPr lang="en-US" sz="2800" dirty="0"/>
          </a:p>
        </p:txBody>
      </p:sp>
      <p:sp>
        <p:nvSpPr>
          <p:cNvPr id="9" name="Text 7"/>
          <p:cNvSpPr/>
          <p:nvPr/>
        </p:nvSpPr>
        <p:spPr>
          <a:xfrm>
            <a:off x="320040" y="1673352"/>
            <a:ext cx="1737360" cy="365760"/>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ATE — Visits</a:t>
            </a:r>
            <a:endParaRPr lang="en-US" sz="1000" dirty="0"/>
          </a:p>
        </p:txBody>
      </p:sp>
      <p:sp>
        <p:nvSpPr>
          <p:cNvPr id="10" name="Shape 8"/>
          <p:cNvSpPr/>
          <p:nvPr/>
        </p:nvSpPr>
        <p:spPr>
          <a:xfrm>
            <a:off x="2057400" y="1149657"/>
            <a:ext cx="1737360" cy="91440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1" name="Text 9"/>
          <p:cNvSpPr/>
          <p:nvPr/>
        </p:nvSpPr>
        <p:spPr>
          <a:xfrm>
            <a:off x="2148840" y="1216152"/>
            <a:ext cx="1737360" cy="502920"/>
          </a:xfrm>
          <a:prstGeom prst="rect">
            <a:avLst/>
          </a:prstGeom>
          <a:noFill/>
          <a:ln/>
        </p:spPr>
        <p:txBody>
          <a:bodyPr wrap="square" rtlCol="0" anchor="b"/>
          <a:lstStyle/>
          <a:p>
            <a:pPr marL="0" indent="0" algn="ctr">
              <a:buNone/>
            </a:pPr>
            <a:r>
              <a:rPr lang="en-US" sz="2800" b="1" dirty="0">
                <a:solidFill>
                  <a:srgbClr val="1E3A5F"/>
                </a:solidFill>
                <a:latin typeface="Calibri" pitchFamily="34" charset="0"/>
                <a:ea typeface="Calibri" pitchFamily="34" charset="-122"/>
                <a:cs typeface="Calibri" pitchFamily="34" charset="-120"/>
              </a:rPr>
              <a:t>7.71</a:t>
            </a:r>
            <a:endParaRPr lang="en-US" sz="2800" dirty="0"/>
          </a:p>
        </p:txBody>
      </p:sp>
      <p:sp>
        <p:nvSpPr>
          <p:cNvPr id="12" name="Text 10"/>
          <p:cNvSpPr/>
          <p:nvPr/>
        </p:nvSpPr>
        <p:spPr>
          <a:xfrm>
            <a:off x="2148840" y="1673352"/>
            <a:ext cx="1737360" cy="365760"/>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t-statistic</a:t>
            </a:r>
            <a:endParaRPr lang="en-US" sz="1000" dirty="0"/>
          </a:p>
        </p:txBody>
      </p:sp>
      <p:sp>
        <p:nvSpPr>
          <p:cNvPr id="13" name="Shape 11"/>
          <p:cNvSpPr/>
          <p:nvPr/>
        </p:nvSpPr>
        <p:spPr>
          <a:xfrm>
            <a:off x="3896627" y="1153107"/>
            <a:ext cx="1828800" cy="91440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4" name="Text 12"/>
          <p:cNvSpPr/>
          <p:nvPr/>
        </p:nvSpPr>
        <p:spPr>
          <a:xfrm>
            <a:off x="3977640" y="1216152"/>
            <a:ext cx="1828800" cy="502920"/>
          </a:xfrm>
          <a:prstGeom prst="rect">
            <a:avLst/>
          </a:prstGeom>
          <a:noFill/>
          <a:ln/>
        </p:spPr>
        <p:txBody>
          <a:bodyPr wrap="square" rtlCol="0" anchor="b"/>
          <a:lstStyle/>
          <a:p>
            <a:pPr marL="0" indent="0" algn="ctr">
              <a:buNone/>
            </a:pPr>
            <a:r>
              <a:rPr lang="en-US" sz="2800" b="1" dirty="0">
                <a:solidFill>
                  <a:srgbClr val="059669"/>
                </a:solidFill>
                <a:latin typeface="Calibri" pitchFamily="34" charset="0"/>
                <a:ea typeface="Calibri" pitchFamily="34" charset="-122"/>
                <a:cs typeface="Calibri" pitchFamily="34" charset="-120"/>
              </a:rPr>
              <a:t>p &lt; 0.001</a:t>
            </a:r>
            <a:endParaRPr lang="en-US" sz="2800" dirty="0"/>
          </a:p>
        </p:txBody>
      </p:sp>
      <p:sp>
        <p:nvSpPr>
          <p:cNvPr id="15" name="Text 13"/>
          <p:cNvSpPr/>
          <p:nvPr/>
        </p:nvSpPr>
        <p:spPr>
          <a:xfrm>
            <a:off x="3977640" y="1673352"/>
            <a:ext cx="1828800" cy="365760"/>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p-value</a:t>
            </a:r>
            <a:endParaRPr lang="en-US" sz="1000" dirty="0"/>
          </a:p>
        </p:txBody>
      </p:sp>
      <p:sp>
        <p:nvSpPr>
          <p:cNvPr id="16" name="Shape 14"/>
          <p:cNvSpPr/>
          <p:nvPr/>
        </p:nvSpPr>
        <p:spPr>
          <a:xfrm>
            <a:off x="5827294" y="1153107"/>
            <a:ext cx="1645920" cy="91440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7" name="Text 15"/>
          <p:cNvSpPr/>
          <p:nvPr/>
        </p:nvSpPr>
        <p:spPr>
          <a:xfrm>
            <a:off x="5897880" y="1216152"/>
            <a:ext cx="1645920" cy="502920"/>
          </a:xfrm>
          <a:prstGeom prst="rect">
            <a:avLst/>
          </a:prstGeom>
          <a:noFill/>
          <a:ln/>
        </p:spPr>
        <p:txBody>
          <a:bodyPr wrap="square" rtlCol="0" anchor="b"/>
          <a:lstStyle/>
          <a:p>
            <a:pPr marL="0" indent="0" algn="ctr">
              <a:buNone/>
            </a:pPr>
            <a:r>
              <a:rPr lang="en-US" sz="2800" b="1" dirty="0">
                <a:solidFill>
                  <a:srgbClr val="7C3AED"/>
                </a:solidFill>
                <a:latin typeface="Calibri" pitchFamily="34" charset="0"/>
                <a:ea typeface="Calibri" pitchFamily="34" charset="-122"/>
                <a:cs typeface="Calibri" pitchFamily="34" charset="-120"/>
              </a:rPr>
              <a:t>+0.0017</a:t>
            </a:r>
            <a:endParaRPr lang="en-US" sz="2800" dirty="0"/>
          </a:p>
        </p:txBody>
      </p:sp>
      <p:sp>
        <p:nvSpPr>
          <p:cNvPr id="18" name="Text 16"/>
          <p:cNvSpPr/>
          <p:nvPr/>
        </p:nvSpPr>
        <p:spPr>
          <a:xfrm>
            <a:off x="5897880" y="1673352"/>
            <a:ext cx="1645920" cy="365760"/>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ATE — Conversions</a:t>
            </a:r>
            <a:endParaRPr lang="en-US" sz="1000" dirty="0"/>
          </a:p>
        </p:txBody>
      </p:sp>
      <p:sp>
        <p:nvSpPr>
          <p:cNvPr id="19" name="Shape 17"/>
          <p:cNvSpPr/>
          <p:nvPr/>
        </p:nvSpPr>
        <p:spPr>
          <a:xfrm>
            <a:off x="7575081" y="1170432"/>
            <a:ext cx="1508760" cy="91440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20" name="Text 18"/>
          <p:cNvSpPr/>
          <p:nvPr/>
        </p:nvSpPr>
        <p:spPr>
          <a:xfrm>
            <a:off x="7635240" y="1242620"/>
            <a:ext cx="1479882" cy="476451"/>
          </a:xfrm>
          <a:prstGeom prst="rect">
            <a:avLst/>
          </a:prstGeom>
          <a:noFill/>
          <a:ln/>
        </p:spPr>
        <p:txBody>
          <a:bodyPr wrap="square" rtlCol="0" anchor="b"/>
          <a:lstStyle/>
          <a:p>
            <a:pPr marL="0" indent="0" algn="ctr">
              <a:buNone/>
            </a:pPr>
            <a:r>
              <a:rPr lang="en-US" sz="2400" b="1" dirty="0">
                <a:solidFill>
                  <a:srgbClr val="7C3AED"/>
                </a:solidFill>
                <a:latin typeface="Calibri" pitchFamily="34" charset="0"/>
                <a:ea typeface="Calibri" pitchFamily="34" charset="-122"/>
                <a:cs typeface="Calibri" pitchFamily="34" charset="-120"/>
              </a:rPr>
              <a:t>p &lt; 0.001</a:t>
            </a:r>
            <a:endParaRPr lang="en-US" sz="2400" dirty="0"/>
          </a:p>
        </p:txBody>
      </p:sp>
      <p:sp>
        <p:nvSpPr>
          <p:cNvPr id="21" name="Text 19"/>
          <p:cNvSpPr/>
          <p:nvPr/>
        </p:nvSpPr>
        <p:spPr>
          <a:xfrm>
            <a:off x="7635240" y="1673352"/>
            <a:ext cx="1645920" cy="365760"/>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p-value</a:t>
            </a:r>
            <a:endParaRPr lang="en-US" sz="1000" dirty="0"/>
          </a:p>
        </p:txBody>
      </p:sp>
      <p:sp>
        <p:nvSpPr>
          <p:cNvPr id="22" name="Shape 20"/>
          <p:cNvSpPr/>
          <p:nvPr/>
        </p:nvSpPr>
        <p:spPr>
          <a:xfrm>
            <a:off x="320040" y="2212848"/>
            <a:ext cx="4160520" cy="777240"/>
          </a:xfrm>
          <a:prstGeom prst="rect">
            <a:avLst/>
          </a:prstGeom>
          <a:solidFill>
            <a:srgbClr val="059669"/>
          </a:solidFill>
          <a:ln w="12700">
            <a:solidFill>
              <a:srgbClr val="059669"/>
            </a:solidFill>
            <a:prstDash val="solid"/>
          </a:ln>
        </p:spPr>
        <p:txBody>
          <a:bodyPr/>
          <a:lstStyle/>
          <a:p>
            <a:endParaRPr lang="en-US"/>
          </a:p>
        </p:txBody>
      </p:sp>
      <p:sp>
        <p:nvSpPr>
          <p:cNvPr id="23" name="Text 21"/>
          <p:cNvSpPr/>
          <p:nvPr/>
        </p:nvSpPr>
        <p:spPr>
          <a:xfrm>
            <a:off x="320040" y="2212848"/>
            <a:ext cx="4160520" cy="7772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Relative Lift on Visits: +26.4%</a:t>
            </a:r>
            <a:endParaRPr lang="en-US" sz="2200" dirty="0"/>
          </a:p>
        </p:txBody>
      </p:sp>
      <p:sp>
        <p:nvSpPr>
          <p:cNvPr id="24" name="Shape 22"/>
          <p:cNvSpPr/>
          <p:nvPr/>
        </p:nvSpPr>
        <p:spPr>
          <a:xfrm>
            <a:off x="4617720" y="2212848"/>
            <a:ext cx="4206240" cy="777240"/>
          </a:xfrm>
          <a:prstGeom prst="rect">
            <a:avLst/>
          </a:prstGeom>
          <a:solidFill>
            <a:srgbClr val="7C3AED"/>
          </a:solidFill>
          <a:ln w="12700">
            <a:solidFill>
              <a:srgbClr val="7C3AED"/>
            </a:solidFill>
            <a:prstDash val="solid"/>
          </a:ln>
        </p:spPr>
        <p:txBody>
          <a:bodyPr/>
          <a:lstStyle/>
          <a:p>
            <a:endParaRPr lang="en-US"/>
          </a:p>
        </p:txBody>
      </p:sp>
      <p:sp>
        <p:nvSpPr>
          <p:cNvPr id="25" name="Text 23"/>
          <p:cNvSpPr/>
          <p:nvPr/>
        </p:nvSpPr>
        <p:spPr>
          <a:xfrm>
            <a:off x="4617720" y="2212848"/>
            <a:ext cx="4206240" cy="7772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Relative Lift on Conversions: +93.0%</a:t>
            </a:r>
            <a:endParaRPr lang="en-US" sz="2200" dirty="0"/>
          </a:p>
        </p:txBody>
      </p:sp>
      <p:sp>
        <p:nvSpPr>
          <p:cNvPr id="26" name="Shape 24"/>
          <p:cNvSpPr/>
          <p:nvPr/>
        </p:nvSpPr>
        <p:spPr>
          <a:xfrm>
            <a:off x="320040" y="3108960"/>
            <a:ext cx="8503920" cy="475488"/>
          </a:xfrm>
          <a:prstGeom prst="rect">
            <a:avLst/>
          </a:prstGeom>
          <a:solidFill>
            <a:srgbClr val="DBEAFE"/>
          </a:solidFill>
          <a:ln w="12700">
            <a:solidFill>
              <a:srgbClr val="2563EB"/>
            </a:solidFill>
            <a:prstDash val="solid"/>
          </a:ln>
        </p:spPr>
        <p:txBody>
          <a:bodyPr/>
          <a:lstStyle/>
          <a:p>
            <a:endParaRPr lang="en-US"/>
          </a:p>
        </p:txBody>
      </p:sp>
      <p:sp>
        <p:nvSpPr>
          <p:cNvPr id="27" name="Text 25"/>
          <p:cNvSpPr/>
          <p:nvPr/>
        </p:nvSpPr>
        <p:spPr>
          <a:xfrm>
            <a:off x="320040" y="3108960"/>
            <a:ext cx="8503920" cy="475488"/>
          </a:xfrm>
          <a:prstGeom prst="rect">
            <a:avLst/>
          </a:prstGeom>
          <a:noFill/>
          <a:ln/>
        </p:spPr>
        <p:txBody>
          <a:bodyPr wrap="square" rtlCol="0" anchor="ctr"/>
          <a:lstStyle/>
          <a:p>
            <a:pPr marL="0" indent="0" algn="ctr">
              <a:buNone/>
            </a:pPr>
            <a:r>
              <a:rPr lang="en-US" sz="1200" b="1" dirty="0">
                <a:solidFill>
                  <a:srgbClr val="1E3A5F"/>
                </a:solidFill>
                <a:latin typeface="Calibri" pitchFamily="34" charset="0"/>
                <a:ea typeface="Calibri" pitchFamily="34" charset="-122"/>
                <a:cs typeface="Calibri" pitchFamily="34" charset="-120"/>
              </a:rPr>
              <a:t>95% CI Visits [+0.0079, +0.0127]  •  95% CI Conversions [+0.0011, +0.0022]  •  Both exclude zero entirely</a:t>
            </a:r>
            <a:endParaRPr lang="en-US" sz="1200" dirty="0"/>
          </a:p>
        </p:txBody>
      </p:sp>
      <p:sp>
        <p:nvSpPr>
          <p:cNvPr id="28" name="Shape 26"/>
          <p:cNvSpPr/>
          <p:nvPr/>
        </p:nvSpPr>
        <p:spPr>
          <a:xfrm>
            <a:off x="320040" y="3703320"/>
            <a:ext cx="8503920" cy="475488"/>
          </a:xfrm>
          <a:prstGeom prst="rect">
            <a:avLst/>
          </a:prstGeom>
          <a:solidFill>
            <a:srgbClr val="F0FDF4"/>
          </a:solidFill>
          <a:ln w="12700">
            <a:solidFill>
              <a:srgbClr val="059669"/>
            </a:solidFill>
            <a:prstDash val="solid"/>
          </a:ln>
        </p:spPr>
        <p:txBody>
          <a:bodyPr/>
          <a:lstStyle/>
          <a:p>
            <a:endParaRPr lang="en-US"/>
          </a:p>
        </p:txBody>
      </p:sp>
      <p:sp>
        <p:nvSpPr>
          <p:cNvPr id="29" name="Text 27"/>
          <p:cNvSpPr/>
          <p:nvPr/>
        </p:nvSpPr>
        <p:spPr>
          <a:xfrm>
            <a:off x="320040" y="3703320"/>
            <a:ext cx="8503920" cy="475488"/>
          </a:xfrm>
          <a:prstGeom prst="rect">
            <a:avLst/>
          </a:prstGeom>
          <a:noFill/>
          <a:ln/>
        </p:spPr>
        <p:txBody>
          <a:bodyPr wrap="square" rtlCol="0" anchor="ctr"/>
          <a:lstStyle/>
          <a:p>
            <a:pPr marL="0" indent="0" algn="ctr">
              <a:buNone/>
            </a:pPr>
            <a:r>
              <a:rPr lang="en-US" sz="1100" dirty="0">
                <a:solidFill>
                  <a:srgbClr val="374151"/>
                </a:solidFill>
                <a:latin typeface="Calibri" pitchFamily="34" charset="0"/>
                <a:ea typeface="Calibri" pitchFamily="34" charset="-122"/>
                <a:cs typeface="Calibri" pitchFamily="34" charset="-120"/>
              </a:rPr>
              <a:t> IPW Robustness Check: Reweighted ATE = +0.0080 (visits) and +0.0015 (conversions) — same direction, confirmed robust</a:t>
            </a:r>
            <a:endParaRPr lang="en-US" sz="1100" dirty="0"/>
          </a:p>
        </p:txBody>
      </p:sp>
      <p:sp>
        <p:nvSpPr>
          <p:cNvPr id="30" name="Text 28"/>
          <p:cNvSpPr/>
          <p:nvPr/>
        </p:nvSpPr>
        <p:spPr>
          <a:xfrm>
            <a:off x="320040" y="4297680"/>
            <a:ext cx="8503920" cy="347472"/>
          </a:xfrm>
          <a:prstGeom prst="rect">
            <a:avLst/>
          </a:prstGeom>
          <a:noFill/>
          <a:ln/>
        </p:spPr>
        <p:txBody>
          <a:bodyPr wrap="square" rtlCol="0" anchor="ctr"/>
          <a:lstStyle/>
          <a:p>
            <a:pPr marL="0" indent="0" algn="ctr">
              <a:buNone/>
            </a:pPr>
            <a:r>
              <a:rPr lang="en-US" sz="1300" b="1" dirty="0">
                <a:solidFill>
                  <a:srgbClr val="059669"/>
                </a:solidFill>
                <a:latin typeface="Calibri" pitchFamily="34" charset="0"/>
                <a:ea typeface="Calibri" pitchFamily="34" charset="-122"/>
                <a:cs typeface="Calibri" pitchFamily="34" charset="-120"/>
              </a:rPr>
              <a:t>H₀: ATE = 0  →  REJECTED at p &lt; 0.001 for both outcomes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2179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CATE: Personalised Treatment Effects — Who Benefits Most?</a:t>
            </a:r>
            <a:endParaRPr lang="en-US" sz="2200" dirty="0"/>
          </a:p>
        </p:txBody>
      </p:sp>
      <p:sp>
        <p:nvSpPr>
          <p:cNvPr id="4" name="Shape 2"/>
          <p:cNvSpPr/>
          <p:nvPr/>
        </p:nvSpPr>
        <p:spPr>
          <a:xfrm>
            <a:off x="7818120" y="91440"/>
            <a:ext cx="1143000" cy="438912"/>
          </a:xfrm>
          <a:prstGeom prst="rect">
            <a:avLst/>
          </a:prstGeom>
          <a:solidFill>
            <a:srgbClr val="2563EB"/>
          </a:solidFill>
          <a:ln w="12700">
            <a:solidFill>
              <a:srgbClr val="2563EB"/>
            </a:solidFill>
            <a:prstDash val="solid"/>
          </a:ln>
        </p:spPr>
        <p:txBody>
          <a:bodyPr/>
          <a:lstStyle/>
          <a:p>
            <a:endParaRPr lang="en-US"/>
          </a:p>
        </p:txBody>
      </p:sp>
      <p:sp>
        <p:nvSpPr>
          <p:cNvPr id="5" name="Text 3"/>
          <p:cNvSpPr/>
          <p:nvPr/>
        </p:nvSpPr>
        <p:spPr>
          <a:xfrm>
            <a:off x="7818120" y="91440"/>
            <a:ext cx="11430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CATE</a:t>
            </a:r>
            <a:endParaRPr lang="en-US" sz="900" dirty="0"/>
          </a:p>
        </p:txBody>
      </p:sp>
      <p:sp>
        <p:nvSpPr>
          <p:cNvPr id="6" name="Text 4"/>
          <p:cNvSpPr/>
          <p:nvPr/>
        </p:nvSpPr>
        <p:spPr>
          <a:xfrm>
            <a:off x="320040" y="749808"/>
            <a:ext cx="8503920" cy="365760"/>
          </a:xfrm>
          <a:prstGeom prst="rect">
            <a:avLst/>
          </a:prstGeom>
          <a:noFill/>
          <a:ln/>
        </p:spPr>
        <p:txBody>
          <a:bodyPr wrap="square" rtlCol="0" anchor="ctr"/>
          <a:lstStyle/>
          <a:p>
            <a:pPr marL="0" indent="0">
              <a:buNone/>
            </a:pPr>
            <a:r>
              <a:rPr lang="en-US" sz="1200" i="1" dirty="0">
                <a:solidFill>
                  <a:srgbClr val="374151"/>
                </a:solidFill>
                <a:latin typeface="Calibri" pitchFamily="34" charset="0"/>
                <a:ea typeface="Calibri" pitchFamily="34" charset="-122"/>
                <a:cs typeface="Calibri" pitchFamily="34" charset="-120"/>
              </a:rPr>
              <a:t>ATE = one number for everyone. CATE gives each user their own estimated treatment effect: τ(x) = E[Y(1) − Y(0) | X = x]</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378875446"/>
              </p:ext>
            </p:extLst>
          </p:nvPr>
        </p:nvGraphicFramePr>
        <p:xfrm>
          <a:off x="320040" y="1207008"/>
          <a:ext cx="4937760" cy="1764792"/>
        </p:xfrm>
        <a:graphic>
          <a:graphicData uri="http://schemas.openxmlformats.org/drawingml/2006/table">
            <a:tbl>
              <a:tblPr/>
              <a:tblGrid>
                <a:gridCol w="1543050">
                  <a:extLst>
                    <a:ext uri="{9D8B030D-6E8A-4147-A177-3AD203B41FA5}">
                      <a16:colId xmlns:a16="http://schemas.microsoft.com/office/drawing/2014/main" val="20000"/>
                    </a:ext>
                  </a:extLst>
                </a:gridCol>
                <a:gridCol w="848678">
                  <a:extLst>
                    <a:ext uri="{9D8B030D-6E8A-4147-A177-3AD203B41FA5}">
                      <a16:colId xmlns:a16="http://schemas.microsoft.com/office/drawing/2014/main" val="20001"/>
                    </a:ext>
                  </a:extLst>
                </a:gridCol>
                <a:gridCol w="1273016">
                  <a:extLst>
                    <a:ext uri="{9D8B030D-6E8A-4147-A177-3AD203B41FA5}">
                      <a16:colId xmlns:a16="http://schemas.microsoft.com/office/drawing/2014/main" val="20002"/>
                    </a:ext>
                  </a:extLst>
                </a:gridCol>
                <a:gridCol w="1273016">
                  <a:extLst>
                    <a:ext uri="{9D8B030D-6E8A-4147-A177-3AD203B41FA5}">
                      <a16:colId xmlns:a16="http://schemas.microsoft.com/office/drawing/2014/main" val="20003"/>
                    </a:ext>
                  </a:extLst>
                </a:gridCol>
              </a:tblGrid>
              <a:tr h="44119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Mean CATE</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Range</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Persuadables</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4119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S-Learner (LR)</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+0.0072</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+0.0003 to +0.0636</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100% (over-inflated)</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41198">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T-Learner (LR)</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+0.0078</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−0.1526 to +0.3339</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81.7%</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41198">
                <a:tc>
                  <a:txBody>
                    <a:bodyPr/>
                    <a:lstStyle/>
                    <a:p>
                      <a:pPr marL="0" indent="0">
                        <a:buNone/>
                      </a:pPr>
                      <a:r>
                        <a:rPr lang="en-US" sz="1100" b="1" dirty="0">
                          <a:solidFill>
                            <a:srgbClr val="059669"/>
                          </a:solidFill>
                          <a:latin typeface="Calibri" pitchFamily="34" charset="0"/>
                          <a:ea typeface="Calibri" pitchFamily="34" charset="-122"/>
                          <a:cs typeface="Calibri" pitchFamily="34" charset="-120"/>
                        </a:rPr>
                        <a:t>T-Learner (LightGBM)</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b="1" dirty="0">
                          <a:solidFill>
                            <a:srgbClr val="059669"/>
                          </a:solidFill>
                          <a:latin typeface="Calibri" pitchFamily="34" charset="0"/>
                          <a:ea typeface="Calibri" pitchFamily="34" charset="-122"/>
                          <a:cs typeface="Calibri" pitchFamily="34" charset="-120"/>
                        </a:rPr>
                        <a:t>+0.0077</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b="1" dirty="0">
                          <a:solidFill>
                            <a:srgbClr val="059669"/>
                          </a:solidFill>
                          <a:latin typeface="Calibri" pitchFamily="34" charset="0"/>
                          <a:ea typeface="Calibri" pitchFamily="34" charset="-122"/>
                          <a:cs typeface="Calibri" pitchFamily="34" charset="-120"/>
                        </a:rPr>
                        <a:t>−0.2724 to +0.5816</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100" b="1" dirty="0">
                          <a:solidFill>
                            <a:srgbClr val="059669"/>
                          </a:solidFill>
                          <a:latin typeface="Calibri" pitchFamily="34" charset="0"/>
                          <a:ea typeface="Calibri" pitchFamily="34" charset="-122"/>
                          <a:cs typeface="Calibri" pitchFamily="34" charset="-120"/>
                        </a:rPr>
                        <a:t>21.1% ← most realistic</a:t>
                      </a:r>
                      <a:endParaRPr lang="en-US" sz="11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5"/>
          <p:cNvSpPr/>
          <p:nvPr/>
        </p:nvSpPr>
        <p:spPr>
          <a:xfrm>
            <a:off x="320040" y="3108960"/>
            <a:ext cx="2331720" cy="91440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9" name="Text 6"/>
          <p:cNvSpPr/>
          <p:nvPr/>
        </p:nvSpPr>
        <p:spPr>
          <a:xfrm>
            <a:off x="320040" y="3154680"/>
            <a:ext cx="2331720" cy="502920"/>
          </a:xfrm>
          <a:prstGeom prst="rect">
            <a:avLst/>
          </a:prstGeom>
          <a:noFill/>
          <a:ln/>
        </p:spPr>
        <p:txBody>
          <a:bodyPr wrap="square" rtlCol="0" anchor="b"/>
          <a:lstStyle/>
          <a:p>
            <a:pPr marL="0" indent="0" algn="ctr">
              <a:buNone/>
            </a:pPr>
            <a:r>
              <a:rPr lang="en-US" sz="2800" b="1" dirty="0">
                <a:solidFill>
                  <a:srgbClr val="059669"/>
                </a:solidFill>
                <a:latin typeface="Calibri" pitchFamily="34" charset="0"/>
                <a:ea typeface="Calibri" pitchFamily="34" charset="-122"/>
                <a:cs typeface="Calibri" pitchFamily="34" charset="-120"/>
              </a:rPr>
              <a:t>0.944</a:t>
            </a:r>
            <a:endParaRPr lang="en-US" sz="2800" dirty="0"/>
          </a:p>
        </p:txBody>
      </p:sp>
      <p:sp>
        <p:nvSpPr>
          <p:cNvPr id="10" name="Text 7"/>
          <p:cNvSpPr/>
          <p:nvPr/>
        </p:nvSpPr>
        <p:spPr>
          <a:xfrm>
            <a:off x="320040" y="3611880"/>
            <a:ext cx="2331720" cy="365760"/>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LightGBM mu1 AUC</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(treated model)</a:t>
            </a:r>
            <a:endParaRPr lang="en-US" sz="1000" dirty="0"/>
          </a:p>
        </p:txBody>
      </p:sp>
      <p:sp>
        <p:nvSpPr>
          <p:cNvPr id="11" name="Shape 8"/>
          <p:cNvSpPr/>
          <p:nvPr/>
        </p:nvSpPr>
        <p:spPr>
          <a:xfrm>
            <a:off x="2788920" y="3108960"/>
            <a:ext cx="2331720" cy="91440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2" name="Text 9"/>
          <p:cNvSpPr/>
          <p:nvPr/>
        </p:nvSpPr>
        <p:spPr>
          <a:xfrm>
            <a:off x="2788920" y="3154680"/>
            <a:ext cx="2331720" cy="502920"/>
          </a:xfrm>
          <a:prstGeom prst="rect">
            <a:avLst/>
          </a:prstGeom>
          <a:noFill/>
          <a:ln/>
        </p:spPr>
        <p:txBody>
          <a:bodyPr wrap="square" rtlCol="0" anchor="b"/>
          <a:lstStyle/>
          <a:p>
            <a:pPr marL="0" indent="0" algn="ctr">
              <a:buNone/>
            </a:pPr>
            <a:r>
              <a:rPr lang="en-US" sz="2800" b="1" dirty="0">
                <a:solidFill>
                  <a:srgbClr val="059669"/>
                </a:solidFill>
                <a:latin typeface="Calibri" pitchFamily="34" charset="0"/>
                <a:ea typeface="Calibri" pitchFamily="34" charset="-122"/>
                <a:cs typeface="Calibri" pitchFamily="34" charset="-120"/>
              </a:rPr>
              <a:t>0.934</a:t>
            </a:r>
            <a:endParaRPr lang="en-US" sz="2800" dirty="0"/>
          </a:p>
        </p:txBody>
      </p:sp>
      <p:sp>
        <p:nvSpPr>
          <p:cNvPr id="13" name="Text 10"/>
          <p:cNvSpPr/>
          <p:nvPr/>
        </p:nvSpPr>
        <p:spPr>
          <a:xfrm>
            <a:off x="2788920" y="3611880"/>
            <a:ext cx="2331720" cy="365760"/>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LightGBM mu0 AUC</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(control model)</a:t>
            </a:r>
            <a:endParaRPr lang="en-US" sz="1000" dirty="0"/>
          </a:p>
        </p:txBody>
      </p:sp>
      <p:sp>
        <p:nvSpPr>
          <p:cNvPr id="14" name="Shape 11"/>
          <p:cNvSpPr/>
          <p:nvPr/>
        </p:nvSpPr>
        <p:spPr>
          <a:xfrm>
            <a:off x="320040" y="4160520"/>
            <a:ext cx="4937760" cy="548640"/>
          </a:xfrm>
          <a:prstGeom prst="rect">
            <a:avLst/>
          </a:prstGeom>
          <a:solidFill>
            <a:srgbClr val="1E3A5F"/>
          </a:solidFill>
          <a:ln w="12700">
            <a:solidFill>
              <a:srgbClr val="1E3A5F"/>
            </a:solidFill>
            <a:prstDash val="solid"/>
          </a:ln>
        </p:spPr>
        <p:txBody>
          <a:bodyPr/>
          <a:lstStyle/>
          <a:p>
            <a:endParaRPr lang="en-US"/>
          </a:p>
        </p:txBody>
      </p:sp>
      <p:sp>
        <p:nvSpPr>
          <p:cNvPr id="15" name="Text 12"/>
          <p:cNvSpPr/>
          <p:nvPr/>
        </p:nvSpPr>
        <p:spPr>
          <a:xfrm>
            <a:off x="320040" y="4160520"/>
            <a:ext cx="493776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LightGBM: mean CATE unchanged (+0.0077) but reveals 2× wider heterogeneity than LR</a:t>
            </a:r>
            <a:endParaRPr lang="en-US" sz="1100" dirty="0"/>
          </a:p>
        </p:txBody>
      </p:sp>
      <p:pic>
        <p:nvPicPr>
          <p:cNvPr id="16" name="Image 0" descr="/home/claude/paper/fig9_cate_distributions.png"/>
          <p:cNvPicPr>
            <a:picLocks noChangeAspect="1"/>
          </p:cNvPicPr>
          <p:nvPr/>
        </p:nvPicPr>
        <p:blipFill>
          <a:blip r:embed="rId3"/>
          <a:srcRect/>
          <a:stretch/>
        </p:blipFill>
        <p:spPr>
          <a:xfrm>
            <a:off x="5394960" y="1207008"/>
            <a:ext cx="3429000" cy="3502152"/>
          </a:xfrm>
          <a:prstGeom prst="rect">
            <a:avLst/>
          </a:prstGeom>
        </p:spPr>
      </p:pic>
      <p:sp>
        <p:nvSpPr>
          <p:cNvPr id="17" name="Text 13"/>
          <p:cNvSpPr/>
          <p:nvPr/>
        </p:nvSpPr>
        <p:spPr>
          <a:xfrm>
            <a:off x="5394960" y="4736592"/>
            <a:ext cx="3429000" cy="274320"/>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Fig 9 — S-Learner (all positive) vs T-Learner (wide spread, finds negatives)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2179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Customer Segmentation: The Four Uplift Groups</a:t>
            </a:r>
            <a:endParaRPr lang="en-US" sz="2200" dirty="0"/>
          </a:p>
        </p:txBody>
      </p:sp>
      <p:sp>
        <p:nvSpPr>
          <p:cNvPr id="4" name="Shape 2"/>
          <p:cNvSpPr/>
          <p:nvPr/>
        </p:nvSpPr>
        <p:spPr>
          <a:xfrm>
            <a:off x="7818120" y="91440"/>
            <a:ext cx="1143000" cy="438912"/>
          </a:xfrm>
          <a:prstGeom prst="rect">
            <a:avLst/>
          </a:prstGeom>
          <a:solidFill>
            <a:srgbClr val="2563EB"/>
          </a:solidFill>
          <a:ln w="12700">
            <a:solidFill>
              <a:srgbClr val="2563EB"/>
            </a:solidFill>
            <a:prstDash val="solid"/>
          </a:ln>
        </p:spPr>
        <p:txBody>
          <a:bodyPr/>
          <a:lstStyle/>
          <a:p>
            <a:endParaRPr lang="en-US"/>
          </a:p>
        </p:txBody>
      </p:sp>
      <p:sp>
        <p:nvSpPr>
          <p:cNvPr id="5" name="Text 3"/>
          <p:cNvSpPr/>
          <p:nvPr/>
        </p:nvSpPr>
        <p:spPr>
          <a:xfrm>
            <a:off x="7818120" y="91440"/>
            <a:ext cx="11430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SEG</a:t>
            </a:r>
            <a:endParaRPr lang="en-US" sz="900" dirty="0"/>
          </a:p>
        </p:txBody>
      </p:sp>
      <p:sp>
        <p:nvSpPr>
          <p:cNvPr id="6" name="Text 4"/>
          <p:cNvSpPr/>
          <p:nvPr/>
        </p:nvSpPr>
        <p:spPr>
          <a:xfrm>
            <a:off x="320040" y="749808"/>
            <a:ext cx="8503920" cy="347472"/>
          </a:xfrm>
          <a:prstGeom prst="rect">
            <a:avLst/>
          </a:prstGeom>
          <a:noFill/>
          <a:ln/>
        </p:spPr>
        <p:txBody>
          <a:bodyPr wrap="square" rtlCol="0" anchor="ctr"/>
          <a:lstStyle/>
          <a:p>
            <a:pPr marL="0" indent="0">
              <a:buNone/>
            </a:pPr>
            <a:r>
              <a:rPr lang="en-US" sz="1200" i="1" dirty="0">
                <a:solidFill>
                  <a:srgbClr val="374151"/>
                </a:solidFill>
                <a:latin typeface="Calibri" pitchFamily="34" charset="0"/>
                <a:ea typeface="Calibri" pitchFamily="34" charset="-122"/>
                <a:cs typeface="Calibri" pitchFamily="34" charset="-120"/>
              </a:rPr>
              <a:t>Using LightGBM predicted probabilities (threshold = 0.06) to classify all 60,000 test users into 4 actionable segments.</a:t>
            </a:r>
            <a:endParaRPr lang="en-US" sz="1200" dirty="0"/>
          </a:p>
        </p:txBody>
      </p:sp>
      <p:sp>
        <p:nvSpPr>
          <p:cNvPr id="8" name="Text 5"/>
          <p:cNvSpPr/>
          <p:nvPr/>
        </p:nvSpPr>
        <p:spPr>
          <a:xfrm>
            <a:off x="320040" y="3886200"/>
            <a:ext cx="4846320" cy="228600"/>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Fig 14 — 2×2 segmentation heatmap (LightGBM, threshold = 0.06)</a:t>
            </a:r>
            <a:endParaRPr lang="en-US" sz="900" dirty="0"/>
          </a:p>
        </p:txBody>
      </p:sp>
      <p:sp>
        <p:nvSpPr>
          <p:cNvPr id="9" name="Shape 6"/>
          <p:cNvSpPr/>
          <p:nvPr/>
        </p:nvSpPr>
        <p:spPr>
          <a:xfrm>
            <a:off x="5349240" y="1170432"/>
            <a:ext cx="3474720" cy="841248"/>
          </a:xfrm>
          <a:prstGeom prst="rect">
            <a:avLst/>
          </a:prstGeom>
          <a:solidFill>
            <a:srgbClr val="FFFFFF"/>
          </a:solidFill>
          <a:ln w="12700">
            <a:solidFill>
              <a:srgbClr val="059669"/>
            </a:solidFill>
            <a:prstDash val="solid"/>
          </a:ln>
        </p:spPr>
        <p:txBody>
          <a:bodyPr/>
          <a:lstStyle/>
          <a:p>
            <a:endParaRPr lang="en-US"/>
          </a:p>
        </p:txBody>
      </p:sp>
      <p:sp>
        <p:nvSpPr>
          <p:cNvPr id="10" name="Shape 7"/>
          <p:cNvSpPr/>
          <p:nvPr/>
        </p:nvSpPr>
        <p:spPr>
          <a:xfrm>
            <a:off x="5349240" y="1170432"/>
            <a:ext cx="73152" cy="841248"/>
          </a:xfrm>
          <a:prstGeom prst="rect">
            <a:avLst/>
          </a:prstGeom>
          <a:solidFill>
            <a:srgbClr val="059669"/>
          </a:solidFill>
          <a:ln w="12700">
            <a:solidFill>
              <a:srgbClr val="059669"/>
            </a:solidFill>
            <a:prstDash val="solid"/>
          </a:ln>
        </p:spPr>
        <p:txBody>
          <a:bodyPr/>
          <a:lstStyle/>
          <a:p>
            <a:endParaRPr lang="en-US"/>
          </a:p>
        </p:txBody>
      </p:sp>
      <p:sp>
        <p:nvSpPr>
          <p:cNvPr id="11" name="Text 8"/>
          <p:cNvSpPr/>
          <p:nvPr/>
        </p:nvSpPr>
        <p:spPr>
          <a:xfrm>
            <a:off x="5486400" y="1216152"/>
            <a:ext cx="1828800" cy="256032"/>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PERSUADABLES</a:t>
            </a:r>
            <a:endParaRPr lang="en-US" sz="1000" dirty="0"/>
          </a:p>
        </p:txBody>
      </p:sp>
      <p:sp>
        <p:nvSpPr>
          <p:cNvPr id="12" name="Text 9"/>
          <p:cNvSpPr/>
          <p:nvPr/>
        </p:nvSpPr>
        <p:spPr>
          <a:xfrm>
            <a:off x="5486400" y="1472184"/>
            <a:ext cx="1828800" cy="2286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2,021  (3.4%)</a:t>
            </a:r>
            <a:endParaRPr lang="en-US" sz="1100" dirty="0"/>
          </a:p>
        </p:txBody>
      </p:sp>
      <p:sp>
        <p:nvSpPr>
          <p:cNvPr id="13" name="Text 10"/>
          <p:cNvSpPr/>
          <p:nvPr/>
        </p:nvSpPr>
        <p:spPr>
          <a:xfrm>
            <a:off x="5486400" y="1700784"/>
            <a:ext cx="1828800" cy="228600"/>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CATE +0.0658</a:t>
            </a:r>
            <a:endParaRPr lang="en-US" sz="1000" dirty="0"/>
          </a:p>
        </p:txBody>
      </p:sp>
      <p:sp>
        <p:nvSpPr>
          <p:cNvPr id="14" name="Shape 11"/>
          <p:cNvSpPr/>
          <p:nvPr/>
        </p:nvSpPr>
        <p:spPr>
          <a:xfrm>
            <a:off x="7360920" y="1335024"/>
            <a:ext cx="1371600" cy="475488"/>
          </a:xfrm>
          <a:prstGeom prst="rect">
            <a:avLst/>
          </a:prstGeom>
          <a:solidFill>
            <a:srgbClr val="059669"/>
          </a:solidFill>
          <a:ln w="12700">
            <a:solidFill>
              <a:srgbClr val="059669"/>
            </a:solidFill>
            <a:prstDash val="solid"/>
          </a:ln>
        </p:spPr>
        <p:txBody>
          <a:bodyPr/>
          <a:lstStyle/>
          <a:p>
            <a:endParaRPr lang="en-US"/>
          </a:p>
        </p:txBody>
      </p:sp>
      <p:sp>
        <p:nvSpPr>
          <p:cNvPr id="15" name="Text 12"/>
          <p:cNvSpPr/>
          <p:nvPr/>
        </p:nvSpPr>
        <p:spPr>
          <a:xfrm>
            <a:off x="7360920" y="1335024"/>
            <a:ext cx="1371600"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TARGET THESE</a:t>
            </a:r>
            <a:endParaRPr lang="en-US" sz="1000" dirty="0"/>
          </a:p>
        </p:txBody>
      </p:sp>
      <p:sp>
        <p:nvSpPr>
          <p:cNvPr id="16" name="Shape 13"/>
          <p:cNvSpPr/>
          <p:nvPr/>
        </p:nvSpPr>
        <p:spPr>
          <a:xfrm>
            <a:off x="5349240" y="2103120"/>
            <a:ext cx="3474720" cy="841248"/>
          </a:xfrm>
          <a:prstGeom prst="rect">
            <a:avLst/>
          </a:prstGeom>
          <a:solidFill>
            <a:srgbClr val="FFFFFF"/>
          </a:solidFill>
          <a:ln w="12700">
            <a:solidFill>
              <a:srgbClr val="2563EB"/>
            </a:solidFill>
            <a:prstDash val="solid"/>
          </a:ln>
        </p:spPr>
        <p:txBody>
          <a:bodyPr/>
          <a:lstStyle/>
          <a:p>
            <a:endParaRPr lang="en-US"/>
          </a:p>
        </p:txBody>
      </p:sp>
      <p:sp>
        <p:nvSpPr>
          <p:cNvPr id="17" name="Shape 14"/>
          <p:cNvSpPr/>
          <p:nvPr/>
        </p:nvSpPr>
        <p:spPr>
          <a:xfrm>
            <a:off x="5349240" y="2103120"/>
            <a:ext cx="73152" cy="841248"/>
          </a:xfrm>
          <a:prstGeom prst="rect">
            <a:avLst/>
          </a:prstGeom>
          <a:solidFill>
            <a:srgbClr val="2563EB"/>
          </a:solidFill>
          <a:ln w="12700">
            <a:solidFill>
              <a:srgbClr val="2563EB"/>
            </a:solidFill>
            <a:prstDash val="solid"/>
          </a:ln>
        </p:spPr>
        <p:txBody>
          <a:bodyPr/>
          <a:lstStyle/>
          <a:p>
            <a:endParaRPr lang="en-US"/>
          </a:p>
        </p:txBody>
      </p:sp>
      <p:sp>
        <p:nvSpPr>
          <p:cNvPr id="18" name="Text 15"/>
          <p:cNvSpPr/>
          <p:nvPr/>
        </p:nvSpPr>
        <p:spPr>
          <a:xfrm>
            <a:off x="5486400" y="2148840"/>
            <a:ext cx="1828800" cy="256032"/>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SURE THINGS</a:t>
            </a:r>
            <a:endParaRPr lang="en-US" sz="1000" dirty="0"/>
          </a:p>
        </p:txBody>
      </p:sp>
      <p:sp>
        <p:nvSpPr>
          <p:cNvPr id="19" name="Text 16"/>
          <p:cNvSpPr/>
          <p:nvPr/>
        </p:nvSpPr>
        <p:spPr>
          <a:xfrm>
            <a:off x="5486400" y="2404872"/>
            <a:ext cx="1828800" cy="2286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7,203  (12.0%)</a:t>
            </a:r>
            <a:endParaRPr lang="en-US" sz="1100" dirty="0"/>
          </a:p>
        </p:txBody>
      </p:sp>
      <p:sp>
        <p:nvSpPr>
          <p:cNvPr id="20" name="Text 17"/>
          <p:cNvSpPr/>
          <p:nvPr/>
        </p:nvSpPr>
        <p:spPr>
          <a:xfrm>
            <a:off x="5486400" y="2633472"/>
            <a:ext cx="1828800" cy="228600"/>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CATE +0.0999</a:t>
            </a:r>
            <a:endParaRPr lang="en-US" sz="1000" dirty="0"/>
          </a:p>
        </p:txBody>
      </p:sp>
      <p:sp>
        <p:nvSpPr>
          <p:cNvPr id="21" name="Shape 18"/>
          <p:cNvSpPr/>
          <p:nvPr/>
        </p:nvSpPr>
        <p:spPr>
          <a:xfrm>
            <a:off x="7360920" y="2267712"/>
            <a:ext cx="1371600" cy="475488"/>
          </a:xfrm>
          <a:prstGeom prst="rect">
            <a:avLst/>
          </a:prstGeom>
          <a:solidFill>
            <a:srgbClr val="2563EB"/>
          </a:solidFill>
          <a:ln w="12700">
            <a:solidFill>
              <a:srgbClr val="2563EB"/>
            </a:solidFill>
            <a:prstDash val="solid"/>
          </a:ln>
        </p:spPr>
        <p:txBody>
          <a:bodyPr/>
          <a:lstStyle/>
          <a:p>
            <a:endParaRPr lang="en-US"/>
          </a:p>
        </p:txBody>
      </p:sp>
      <p:sp>
        <p:nvSpPr>
          <p:cNvPr id="22" name="Text 19"/>
          <p:cNvSpPr/>
          <p:nvPr/>
        </p:nvSpPr>
        <p:spPr>
          <a:xfrm>
            <a:off x="7360920" y="2267712"/>
            <a:ext cx="1371600"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SKIP</a:t>
            </a:r>
            <a:endParaRPr lang="en-US" sz="1000" dirty="0"/>
          </a:p>
        </p:txBody>
      </p:sp>
      <p:sp>
        <p:nvSpPr>
          <p:cNvPr id="23" name="Shape 20"/>
          <p:cNvSpPr/>
          <p:nvPr/>
        </p:nvSpPr>
        <p:spPr>
          <a:xfrm>
            <a:off x="5349240" y="3035808"/>
            <a:ext cx="3474720" cy="841248"/>
          </a:xfrm>
          <a:prstGeom prst="rect">
            <a:avLst/>
          </a:prstGeom>
          <a:solidFill>
            <a:srgbClr val="FFFFFF"/>
          </a:solidFill>
          <a:ln w="12700">
            <a:solidFill>
              <a:srgbClr val="6B7280"/>
            </a:solidFill>
            <a:prstDash val="solid"/>
          </a:ln>
        </p:spPr>
        <p:txBody>
          <a:bodyPr/>
          <a:lstStyle/>
          <a:p>
            <a:endParaRPr lang="en-US"/>
          </a:p>
        </p:txBody>
      </p:sp>
      <p:sp>
        <p:nvSpPr>
          <p:cNvPr id="24" name="Shape 21"/>
          <p:cNvSpPr/>
          <p:nvPr/>
        </p:nvSpPr>
        <p:spPr>
          <a:xfrm>
            <a:off x="5349240" y="3035808"/>
            <a:ext cx="73152" cy="841248"/>
          </a:xfrm>
          <a:prstGeom prst="rect">
            <a:avLst/>
          </a:prstGeom>
          <a:solidFill>
            <a:srgbClr val="6B7280"/>
          </a:solidFill>
          <a:ln w="12700">
            <a:solidFill>
              <a:srgbClr val="6B7280"/>
            </a:solidFill>
            <a:prstDash val="solid"/>
          </a:ln>
        </p:spPr>
        <p:txBody>
          <a:bodyPr/>
          <a:lstStyle/>
          <a:p>
            <a:endParaRPr lang="en-US"/>
          </a:p>
        </p:txBody>
      </p:sp>
      <p:sp>
        <p:nvSpPr>
          <p:cNvPr id="25" name="Text 22"/>
          <p:cNvSpPr/>
          <p:nvPr/>
        </p:nvSpPr>
        <p:spPr>
          <a:xfrm>
            <a:off x="5486400" y="3081528"/>
            <a:ext cx="1828800" cy="256032"/>
          </a:xfrm>
          <a:prstGeom prst="rect">
            <a:avLst/>
          </a:prstGeom>
          <a:noFill/>
          <a:ln/>
        </p:spPr>
        <p:txBody>
          <a:bodyPr wrap="square" lIns="0" tIns="0" rIns="0" bIns="0" rtlCol="0" anchor="ctr"/>
          <a:lstStyle/>
          <a:p>
            <a:pPr marL="0" indent="0">
              <a:buNone/>
            </a:pPr>
            <a:r>
              <a:rPr lang="en-US" sz="1000" b="1" dirty="0">
                <a:solidFill>
                  <a:srgbClr val="6B7280"/>
                </a:solidFill>
                <a:latin typeface="Calibri" pitchFamily="34" charset="0"/>
                <a:ea typeface="Calibri" pitchFamily="34" charset="-122"/>
                <a:cs typeface="Calibri" pitchFamily="34" charset="-120"/>
              </a:rPr>
              <a:t>LOST CAUSES</a:t>
            </a:r>
            <a:endParaRPr lang="en-US" sz="1000" dirty="0"/>
          </a:p>
        </p:txBody>
      </p:sp>
      <p:sp>
        <p:nvSpPr>
          <p:cNvPr id="26" name="Text 23"/>
          <p:cNvSpPr/>
          <p:nvPr/>
        </p:nvSpPr>
        <p:spPr>
          <a:xfrm>
            <a:off x="5486400" y="3337560"/>
            <a:ext cx="1828800" cy="2286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50,507  (84.2%)</a:t>
            </a:r>
            <a:endParaRPr lang="en-US" sz="1100" dirty="0"/>
          </a:p>
        </p:txBody>
      </p:sp>
      <p:sp>
        <p:nvSpPr>
          <p:cNvPr id="27" name="Text 24"/>
          <p:cNvSpPr/>
          <p:nvPr/>
        </p:nvSpPr>
        <p:spPr>
          <a:xfrm>
            <a:off x="5486400" y="3566160"/>
            <a:ext cx="1828800" cy="228600"/>
          </a:xfrm>
          <a:prstGeom prst="rect">
            <a:avLst/>
          </a:prstGeom>
          <a:noFill/>
          <a:ln/>
        </p:spPr>
        <p:txBody>
          <a:bodyPr wrap="square" lIns="0" tIns="0" rIns="0" bIns="0" rtlCol="0" anchor="ctr"/>
          <a:lstStyle/>
          <a:p>
            <a:pPr marL="0" indent="0">
              <a:buNone/>
            </a:pPr>
            <a:r>
              <a:rPr lang="en-US" sz="1000" b="1" dirty="0">
                <a:solidFill>
                  <a:srgbClr val="6B7280"/>
                </a:solidFill>
                <a:latin typeface="Calibri" pitchFamily="34" charset="0"/>
                <a:ea typeface="Calibri" pitchFamily="34" charset="-122"/>
                <a:cs typeface="Calibri" pitchFamily="34" charset="-120"/>
              </a:rPr>
              <a:t>CATE −0.0075</a:t>
            </a:r>
            <a:endParaRPr lang="en-US" sz="1000" dirty="0"/>
          </a:p>
        </p:txBody>
      </p:sp>
      <p:sp>
        <p:nvSpPr>
          <p:cNvPr id="28" name="Shape 25"/>
          <p:cNvSpPr/>
          <p:nvPr/>
        </p:nvSpPr>
        <p:spPr>
          <a:xfrm>
            <a:off x="7360920" y="3200400"/>
            <a:ext cx="1371600" cy="475488"/>
          </a:xfrm>
          <a:prstGeom prst="rect">
            <a:avLst/>
          </a:prstGeom>
          <a:solidFill>
            <a:srgbClr val="6B7280"/>
          </a:solidFill>
          <a:ln w="12700">
            <a:solidFill>
              <a:srgbClr val="6B7280"/>
            </a:solidFill>
            <a:prstDash val="solid"/>
          </a:ln>
        </p:spPr>
        <p:txBody>
          <a:bodyPr/>
          <a:lstStyle/>
          <a:p>
            <a:endParaRPr lang="en-US"/>
          </a:p>
        </p:txBody>
      </p:sp>
      <p:sp>
        <p:nvSpPr>
          <p:cNvPr id="29" name="Text 26"/>
          <p:cNvSpPr/>
          <p:nvPr/>
        </p:nvSpPr>
        <p:spPr>
          <a:xfrm>
            <a:off x="7360920" y="3200400"/>
            <a:ext cx="1371600"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SKIP</a:t>
            </a:r>
            <a:endParaRPr lang="en-US" sz="1000" dirty="0"/>
          </a:p>
        </p:txBody>
      </p:sp>
      <p:sp>
        <p:nvSpPr>
          <p:cNvPr id="30" name="Shape 27"/>
          <p:cNvSpPr/>
          <p:nvPr/>
        </p:nvSpPr>
        <p:spPr>
          <a:xfrm>
            <a:off x="5349240" y="3968496"/>
            <a:ext cx="3474720" cy="841248"/>
          </a:xfrm>
          <a:prstGeom prst="rect">
            <a:avLst/>
          </a:prstGeom>
          <a:solidFill>
            <a:srgbClr val="FFFFFF"/>
          </a:solidFill>
          <a:ln w="12700">
            <a:solidFill>
              <a:srgbClr val="DC2626"/>
            </a:solidFill>
            <a:prstDash val="solid"/>
          </a:ln>
        </p:spPr>
        <p:txBody>
          <a:bodyPr/>
          <a:lstStyle/>
          <a:p>
            <a:endParaRPr lang="en-US"/>
          </a:p>
        </p:txBody>
      </p:sp>
      <p:sp>
        <p:nvSpPr>
          <p:cNvPr id="31" name="Shape 28"/>
          <p:cNvSpPr/>
          <p:nvPr/>
        </p:nvSpPr>
        <p:spPr>
          <a:xfrm>
            <a:off x="5349240" y="3968496"/>
            <a:ext cx="73152" cy="841248"/>
          </a:xfrm>
          <a:prstGeom prst="rect">
            <a:avLst/>
          </a:prstGeom>
          <a:solidFill>
            <a:srgbClr val="DC2626"/>
          </a:solidFill>
          <a:ln w="12700">
            <a:solidFill>
              <a:srgbClr val="DC2626"/>
            </a:solidFill>
            <a:prstDash val="solid"/>
          </a:ln>
        </p:spPr>
        <p:txBody>
          <a:bodyPr/>
          <a:lstStyle/>
          <a:p>
            <a:endParaRPr lang="en-US"/>
          </a:p>
        </p:txBody>
      </p:sp>
      <p:sp>
        <p:nvSpPr>
          <p:cNvPr id="32" name="Text 29"/>
          <p:cNvSpPr/>
          <p:nvPr/>
        </p:nvSpPr>
        <p:spPr>
          <a:xfrm>
            <a:off x="5486400" y="4014216"/>
            <a:ext cx="1828800" cy="256032"/>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SLEEPING DOGS</a:t>
            </a:r>
            <a:endParaRPr lang="en-US" sz="1000" dirty="0"/>
          </a:p>
        </p:txBody>
      </p:sp>
      <p:sp>
        <p:nvSpPr>
          <p:cNvPr id="33" name="Text 30"/>
          <p:cNvSpPr/>
          <p:nvPr/>
        </p:nvSpPr>
        <p:spPr>
          <a:xfrm>
            <a:off x="5486400" y="4270248"/>
            <a:ext cx="1828800" cy="2286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269  (0.4%)</a:t>
            </a:r>
            <a:endParaRPr lang="en-US" sz="1100" dirty="0"/>
          </a:p>
        </p:txBody>
      </p:sp>
      <p:sp>
        <p:nvSpPr>
          <p:cNvPr id="34" name="Text 31"/>
          <p:cNvSpPr/>
          <p:nvPr/>
        </p:nvSpPr>
        <p:spPr>
          <a:xfrm>
            <a:off x="5486400" y="4498848"/>
            <a:ext cx="1828800" cy="2286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CATE −0.0397</a:t>
            </a:r>
            <a:endParaRPr lang="en-US" sz="1000" dirty="0"/>
          </a:p>
        </p:txBody>
      </p:sp>
      <p:sp>
        <p:nvSpPr>
          <p:cNvPr id="35" name="Shape 32"/>
          <p:cNvSpPr/>
          <p:nvPr/>
        </p:nvSpPr>
        <p:spPr>
          <a:xfrm>
            <a:off x="7360920" y="4133088"/>
            <a:ext cx="1371600" cy="475488"/>
          </a:xfrm>
          <a:prstGeom prst="rect">
            <a:avLst/>
          </a:prstGeom>
          <a:solidFill>
            <a:srgbClr val="DC2626"/>
          </a:solidFill>
          <a:ln w="12700">
            <a:solidFill>
              <a:srgbClr val="DC2626"/>
            </a:solidFill>
            <a:prstDash val="solid"/>
          </a:ln>
        </p:spPr>
        <p:txBody>
          <a:bodyPr/>
          <a:lstStyle/>
          <a:p>
            <a:endParaRPr lang="en-US"/>
          </a:p>
        </p:txBody>
      </p:sp>
      <p:sp>
        <p:nvSpPr>
          <p:cNvPr id="36" name="Text 33"/>
          <p:cNvSpPr/>
          <p:nvPr/>
        </p:nvSpPr>
        <p:spPr>
          <a:xfrm>
            <a:off x="7360920" y="4133088"/>
            <a:ext cx="1371600" cy="47548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SUPPRESS</a:t>
            </a:r>
            <a:endParaRPr lang="en-US" sz="1000" dirty="0"/>
          </a:p>
        </p:txBody>
      </p:sp>
      <p:sp>
        <p:nvSpPr>
          <p:cNvPr id="37" name="Shape 34"/>
          <p:cNvSpPr/>
          <p:nvPr/>
        </p:nvSpPr>
        <p:spPr>
          <a:xfrm>
            <a:off x="5349240" y="4773168"/>
            <a:ext cx="384048" cy="256032"/>
          </a:xfrm>
          <a:prstGeom prst="rect">
            <a:avLst/>
          </a:prstGeom>
          <a:solidFill>
            <a:srgbClr val="059669"/>
          </a:solidFill>
          <a:ln w="12700">
            <a:solidFill>
              <a:srgbClr val="059669"/>
            </a:solidFill>
            <a:prstDash val="solid"/>
          </a:ln>
        </p:spPr>
        <p:txBody>
          <a:bodyPr/>
          <a:lstStyle/>
          <a:p>
            <a:endParaRPr lang="en-US"/>
          </a:p>
        </p:txBody>
      </p:sp>
      <p:sp>
        <p:nvSpPr>
          <p:cNvPr id="38" name="Shape 35"/>
          <p:cNvSpPr/>
          <p:nvPr/>
        </p:nvSpPr>
        <p:spPr>
          <a:xfrm>
            <a:off x="5742432" y="4773168"/>
            <a:ext cx="1051560" cy="256032"/>
          </a:xfrm>
          <a:prstGeom prst="rect">
            <a:avLst/>
          </a:prstGeom>
          <a:solidFill>
            <a:srgbClr val="2563EB"/>
          </a:solidFill>
          <a:ln w="12700">
            <a:solidFill>
              <a:srgbClr val="2563EB"/>
            </a:solidFill>
            <a:prstDash val="solid"/>
          </a:ln>
        </p:spPr>
        <p:txBody>
          <a:bodyPr/>
          <a:lstStyle/>
          <a:p>
            <a:endParaRPr lang="en-US"/>
          </a:p>
        </p:txBody>
      </p:sp>
      <p:sp>
        <p:nvSpPr>
          <p:cNvPr id="39" name="Shape 36"/>
          <p:cNvSpPr/>
          <p:nvPr/>
        </p:nvSpPr>
        <p:spPr>
          <a:xfrm>
            <a:off x="6803136" y="4773168"/>
            <a:ext cx="1792224" cy="256032"/>
          </a:xfrm>
          <a:prstGeom prst="rect">
            <a:avLst/>
          </a:prstGeom>
          <a:solidFill>
            <a:srgbClr val="6B7280"/>
          </a:solidFill>
          <a:ln w="12700">
            <a:solidFill>
              <a:srgbClr val="6B7280"/>
            </a:solidFill>
            <a:prstDash val="solid"/>
          </a:ln>
        </p:spPr>
        <p:txBody>
          <a:bodyPr/>
          <a:lstStyle/>
          <a:p>
            <a:endParaRPr lang="en-US"/>
          </a:p>
        </p:txBody>
      </p:sp>
      <p:sp>
        <p:nvSpPr>
          <p:cNvPr id="40" name="Shape 37"/>
          <p:cNvSpPr/>
          <p:nvPr/>
        </p:nvSpPr>
        <p:spPr>
          <a:xfrm>
            <a:off x="8604504" y="4773168"/>
            <a:ext cx="219456" cy="256032"/>
          </a:xfrm>
          <a:prstGeom prst="rect">
            <a:avLst/>
          </a:prstGeom>
          <a:solidFill>
            <a:srgbClr val="DC2626"/>
          </a:solidFill>
          <a:ln w="12700">
            <a:solidFill>
              <a:srgbClr val="DC2626"/>
            </a:solidFill>
            <a:prstDash val="solid"/>
          </a:ln>
        </p:spPr>
        <p:txBody>
          <a:bodyPr/>
          <a:lstStyle/>
          <a:p>
            <a:endParaRPr lang="en-US"/>
          </a:p>
        </p:txBody>
      </p:sp>
      <p:sp>
        <p:nvSpPr>
          <p:cNvPr id="41" name="Text 38"/>
          <p:cNvSpPr/>
          <p:nvPr/>
        </p:nvSpPr>
        <p:spPr>
          <a:xfrm>
            <a:off x="685800" y="4398264"/>
            <a:ext cx="3474720" cy="201168"/>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3.4%  |  12%  |  84.2% of users  |  0.4%</a:t>
            </a:r>
            <a:endParaRPr lang="en-US" sz="900" dirty="0"/>
          </a:p>
        </p:txBody>
      </p:sp>
      <p:pic>
        <p:nvPicPr>
          <p:cNvPr id="42" name="Image 0" descr="/home/claude/paper/fig14_segmentation_heatmap.png">
            <a:extLst>
              <a:ext uri="{FF2B5EF4-FFF2-40B4-BE49-F238E27FC236}">
                <a16:creationId xmlns:a16="http://schemas.microsoft.com/office/drawing/2014/main" id="{3E526DFA-2B88-D24E-3770-23F4D9CC1DC5}"/>
              </a:ext>
            </a:extLst>
          </p:cNvPr>
          <p:cNvPicPr>
            <a:picLocks noChangeAspect="1"/>
          </p:cNvPicPr>
          <p:nvPr/>
        </p:nvPicPr>
        <p:blipFill>
          <a:blip r:embed="rId3"/>
          <a:srcRect/>
          <a:stretch/>
        </p:blipFill>
        <p:spPr>
          <a:xfrm>
            <a:off x="27886" y="1472184"/>
            <a:ext cx="5138474" cy="23458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2179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Uplift Curves: Model vs Random Targeting</a:t>
            </a:r>
            <a:endParaRPr lang="en-US" sz="2200" dirty="0"/>
          </a:p>
        </p:txBody>
      </p:sp>
      <p:sp>
        <p:nvSpPr>
          <p:cNvPr id="4" name="Shape 2"/>
          <p:cNvSpPr/>
          <p:nvPr/>
        </p:nvSpPr>
        <p:spPr>
          <a:xfrm>
            <a:off x="7818120" y="91440"/>
            <a:ext cx="1143000" cy="438912"/>
          </a:xfrm>
          <a:prstGeom prst="rect">
            <a:avLst/>
          </a:prstGeom>
          <a:solidFill>
            <a:srgbClr val="2563EB"/>
          </a:solidFill>
          <a:ln w="12700">
            <a:solidFill>
              <a:srgbClr val="2563EB"/>
            </a:solidFill>
            <a:prstDash val="solid"/>
          </a:ln>
        </p:spPr>
        <p:txBody>
          <a:bodyPr/>
          <a:lstStyle/>
          <a:p>
            <a:endParaRPr lang="en-US"/>
          </a:p>
        </p:txBody>
      </p:sp>
      <p:sp>
        <p:nvSpPr>
          <p:cNvPr id="5" name="Text 3"/>
          <p:cNvSpPr/>
          <p:nvPr/>
        </p:nvSpPr>
        <p:spPr>
          <a:xfrm>
            <a:off x="7818120" y="91440"/>
            <a:ext cx="11430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EVAL</a:t>
            </a:r>
            <a:endParaRPr lang="en-US" sz="900" dirty="0"/>
          </a:p>
        </p:txBody>
      </p:sp>
      <p:pic>
        <p:nvPicPr>
          <p:cNvPr id="6" name="Image 0" descr="/home/claude/paper/fig12_uplift_curves.png"/>
          <p:cNvPicPr>
            <a:picLocks noChangeAspect="1"/>
          </p:cNvPicPr>
          <p:nvPr/>
        </p:nvPicPr>
        <p:blipFill>
          <a:blip r:embed="rId3"/>
          <a:srcRect/>
          <a:stretch/>
        </p:blipFill>
        <p:spPr>
          <a:xfrm>
            <a:off x="320040" y="749808"/>
            <a:ext cx="8503920" cy="3931920"/>
          </a:xfrm>
          <a:prstGeom prst="rect">
            <a:avLst/>
          </a:prstGeom>
        </p:spPr>
      </p:pic>
      <p:sp>
        <p:nvSpPr>
          <p:cNvPr id="7" name="Text 4"/>
          <p:cNvSpPr/>
          <p:nvPr/>
        </p:nvSpPr>
        <p:spPr>
          <a:xfrm>
            <a:off x="320040" y="4736592"/>
            <a:ext cx="8503920" cy="292608"/>
          </a:xfrm>
          <a:prstGeom prst="rect">
            <a:avLst/>
          </a:prstGeom>
          <a:noFill/>
          <a:ln/>
        </p:spPr>
        <p:txBody>
          <a:bodyPr wrap="square"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Figure 12 — S-Learner Qini = 163.22 | T-Learner Qini = 153.84 | Random = 0. Both models far above random baseline across all targeting depths.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2179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Business Case: Targeting Efficiency</a:t>
            </a:r>
            <a:endParaRPr lang="en-US" sz="2200" dirty="0"/>
          </a:p>
        </p:txBody>
      </p:sp>
      <p:sp>
        <p:nvSpPr>
          <p:cNvPr id="4" name="Shape 2"/>
          <p:cNvSpPr/>
          <p:nvPr/>
        </p:nvSpPr>
        <p:spPr>
          <a:xfrm>
            <a:off x="7818120" y="91440"/>
            <a:ext cx="1143000" cy="438912"/>
          </a:xfrm>
          <a:prstGeom prst="rect">
            <a:avLst/>
          </a:prstGeom>
          <a:solidFill>
            <a:srgbClr val="2563EB"/>
          </a:solidFill>
          <a:ln w="12700">
            <a:solidFill>
              <a:srgbClr val="2563EB"/>
            </a:solidFill>
            <a:prstDash val="solid"/>
          </a:ln>
        </p:spPr>
        <p:txBody>
          <a:bodyPr/>
          <a:lstStyle/>
          <a:p>
            <a:endParaRPr lang="en-US"/>
          </a:p>
        </p:txBody>
      </p:sp>
      <p:sp>
        <p:nvSpPr>
          <p:cNvPr id="5" name="Text 3"/>
          <p:cNvSpPr/>
          <p:nvPr/>
        </p:nvSpPr>
        <p:spPr>
          <a:xfrm>
            <a:off x="7818120" y="91440"/>
            <a:ext cx="1143000" cy="43891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EVAL</a:t>
            </a:r>
            <a:endParaRPr lang="en-US" sz="900" dirty="0"/>
          </a:p>
        </p:txBody>
      </p:sp>
      <p:sp>
        <p:nvSpPr>
          <p:cNvPr id="6" name="Text 4"/>
          <p:cNvSpPr/>
          <p:nvPr/>
        </p:nvSpPr>
        <p:spPr>
          <a:xfrm>
            <a:off x="320040" y="749808"/>
            <a:ext cx="8503920" cy="347472"/>
          </a:xfrm>
          <a:prstGeom prst="rect">
            <a:avLst/>
          </a:prstGeom>
          <a:noFill/>
          <a:ln/>
        </p:spPr>
        <p:txBody>
          <a:bodyPr wrap="square" rtlCol="0" anchor="ctr"/>
          <a:lstStyle/>
          <a:p>
            <a:pPr marL="0" indent="0">
              <a:buNone/>
            </a:pPr>
            <a:r>
              <a:rPr lang="en-US" sz="1200" i="1" dirty="0">
                <a:solidFill>
                  <a:srgbClr val="374151"/>
                </a:solidFill>
                <a:latin typeface="Calibri" pitchFamily="34" charset="0"/>
                <a:ea typeface="Calibri" pitchFamily="34" charset="-122"/>
                <a:cs typeface="Calibri" pitchFamily="34" charset="-120"/>
              </a:rPr>
              <a:t>Ranking users by predicted CATE is 2-3× more efficient than random targeting at every budget depth.</a:t>
            </a:r>
            <a:endParaRPr lang="en-US" sz="1200" dirty="0"/>
          </a:p>
        </p:txBody>
      </p:sp>
      <p:sp>
        <p:nvSpPr>
          <p:cNvPr id="7" name="Shape 5"/>
          <p:cNvSpPr/>
          <p:nvPr/>
        </p:nvSpPr>
        <p:spPr>
          <a:xfrm>
            <a:off x="320040" y="1188720"/>
            <a:ext cx="1920240" cy="96012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8" name="Text 6"/>
          <p:cNvSpPr/>
          <p:nvPr/>
        </p:nvSpPr>
        <p:spPr>
          <a:xfrm>
            <a:off x="320040" y="1234440"/>
            <a:ext cx="1920240" cy="528066"/>
          </a:xfrm>
          <a:prstGeom prst="rect">
            <a:avLst/>
          </a:prstGeom>
          <a:noFill/>
          <a:ln/>
        </p:spPr>
        <p:txBody>
          <a:bodyPr wrap="square" rtlCol="0" anchor="b"/>
          <a:lstStyle/>
          <a:p>
            <a:pPr marL="0" indent="0" algn="ctr">
              <a:buNone/>
            </a:pPr>
            <a:r>
              <a:rPr lang="en-US" sz="2800" b="1" dirty="0">
                <a:solidFill>
                  <a:srgbClr val="2563EB"/>
                </a:solidFill>
                <a:latin typeface="Calibri" pitchFamily="34" charset="0"/>
                <a:ea typeface="Calibri" pitchFamily="34" charset="-122"/>
                <a:cs typeface="Calibri" pitchFamily="34" charset="-120"/>
              </a:rPr>
              <a:t>163</a:t>
            </a:r>
            <a:endParaRPr lang="en-US" sz="2800" dirty="0"/>
          </a:p>
        </p:txBody>
      </p:sp>
      <p:sp>
        <p:nvSpPr>
          <p:cNvPr id="9" name="Text 7"/>
          <p:cNvSpPr/>
          <p:nvPr/>
        </p:nvSpPr>
        <p:spPr>
          <a:xfrm>
            <a:off x="320040" y="1716786"/>
            <a:ext cx="1920240" cy="384048"/>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S-Learner Qini</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(best ranker)</a:t>
            </a:r>
            <a:endParaRPr lang="en-US" sz="1000" dirty="0"/>
          </a:p>
        </p:txBody>
      </p:sp>
      <p:sp>
        <p:nvSpPr>
          <p:cNvPr id="10" name="Shape 8"/>
          <p:cNvSpPr/>
          <p:nvPr/>
        </p:nvSpPr>
        <p:spPr>
          <a:xfrm>
            <a:off x="2377440" y="1188720"/>
            <a:ext cx="1920240" cy="96012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1" name="Text 9"/>
          <p:cNvSpPr/>
          <p:nvPr/>
        </p:nvSpPr>
        <p:spPr>
          <a:xfrm>
            <a:off x="2377440" y="1234440"/>
            <a:ext cx="1920240" cy="528066"/>
          </a:xfrm>
          <a:prstGeom prst="rect">
            <a:avLst/>
          </a:prstGeom>
          <a:noFill/>
          <a:ln/>
        </p:spPr>
        <p:txBody>
          <a:bodyPr wrap="square" rtlCol="0" anchor="b"/>
          <a:lstStyle/>
          <a:p>
            <a:pPr marL="0" indent="0" algn="ctr">
              <a:buNone/>
            </a:pPr>
            <a:r>
              <a:rPr lang="en-US" sz="2800" b="1" dirty="0">
                <a:solidFill>
                  <a:srgbClr val="059669"/>
                </a:solidFill>
                <a:latin typeface="Calibri" pitchFamily="34" charset="0"/>
                <a:ea typeface="Calibri" pitchFamily="34" charset="-122"/>
                <a:cs typeface="Calibri" pitchFamily="34" charset="-120"/>
              </a:rPr>
              <a:t>79%</a:t>
            </a:r>
            <a:endParaRPr lang="en-US" sz="2800" dirty="0"/>
          </a:p>
        </p:txBody>
      </p:sp>
      <p:sp>
        <p:nvSpPr>
          <p:cNvPr id="12" name="Text 10"/>
          <p:cNvSpPr/>
          <p:nvPr/>
        </p:nvSpPr>
        <p:spPr>
          <a:xfrm>
            <a:off x="2377440" y="1716786"/>
            <a:ext cx="1920240" cy="384048"/>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Uplift captured</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(top 20%, S-Learner)</a:t>
            </a:r>
            <a:endParaRPr lang="en-US" sz="1000" dirty="0"/>
          </a:p>
        </p:txBody>
      </p:sp>
      <p:sp>
        <p:nvSpPr>
          <p:cNvPr id="13" name="Shape 11"/>
          <p:cNvSpPr/>
          <p:nvPr/>
        </p:nvSpPr>
        <p:spPr>
          <a:xfrm>
            <a:off x="4434840" y="1188720"/>
            <a:ext cx="1920240" cy="96012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4" name="Text 12"/>
          <p:cNvSpPr/>
          <p:nvPr/>
        </p:nvSpPr>
        <p:spPr>
          <a:xfrm>
            <a:off x="4434840" y="1234440"/>
            <a:ext cx="1920240" cy="528066"/>
          </a:xfrm>
          <a:prstGeom prst="rect">
            <a:avLst/>
          </a:prstGeom>
          <a:noFill/>
          <a:ln/>
        </p:spPr>
        <p:txBody>
          <a:bodyPr wrap="square" rtlCol="0" anchor="b"/>
          <a:lstStyle/>
          <a:p>
            <a:pPr marL="0" indent="0" algn="ctr">
              <a:buNone/>
            </a:pPr>
            <a:r>
              <a:rPr lang="en-US" sz="2800" b="1" dirty="0">
                <a:solidFill>
                  <a:srgbClr val="7C3AED"/>
                </a:solidFill>
                <a:latin typeface="Calibri" pitchFamily="34" charset="0"/>
                <a:ea typeface="Calibri" pitchFamily="34" charset="-122"/>
                <a:cs typeface="Calibri" pitchFamily="34" charset="-120"/>
              </a:rPr>
              <a:t>65%</a:t>
            </a:r>
            <a:endParaRPr lang="en-US" sz="2800" dirty="0"/>
          </a:p>
        </p:txBody>
      </p:sp>
      <p:sp>
        <p:nvSpPr>
          <p:cNvPr id="15" name="Text 13"/>
          <p:cNvSpPr/>
          <p:nvPr/>
        </p:nvSpPr>
        <p:spPr>
          <a:xfrm>
            <a:off x="4434840" y="1716786"/>
            <a:ext cx="1920240" cy="384048"/>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Uplift captured</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(top 20%, T-Learner)</a:t>
            </a:r>
            <a:endParaRPr lang="en-US" sz="1000" dirty="0"/>
          </a:p>
        </p:txBody>
      </p:sp>
      <p:sp>
        <p:nvSpPr>
          <p:cNvPr id="16" name="Shape 14"/>
          <p:cNvSpPr/>
          <p:nvPr/>
        </p:nvSpPr>
        <p:spPr>
          <a:xfrm>
            <a:off x="6492240" y="1188720"/>
            <a:ext cx="2331720" cy="960120"/>
          </a:xfrm>
          <a:prstGeom prst="rect">
            <a:avLst/>
          </a:prstGeom>
          <a:solidFill>
            <a:srgbClr val="FFFFFF"/>
          </a:solidFill>
          <a:ln w="12700">
            <a:solidFill>
              <a:srgbClr val="E5E7EB"/>
            </a:solidFill>
            <a:prstDash val="solid"/>
          </a:ln>
          <a:effectLst>
            <a:outerShdw blurRad="76200" dist="25400" dir="8100000" algn="bl" rotWithShape="0">
              <a:srgbClr val="000000">
                <a:alpha val="9000"/>
              </a:srgbClr>
            </a:outerShdw>
          </a:effectLst>
        </p:spPr>
        <p:txBody>
          <a:bodyPr/>
          <a:lstStyle/>
          <a:p>
            <a:endParaRPr lang="en-US"/>
          </a:p>
        </p:txBody>
      </p:sp>
      <p:sp>
        <p:nvSpPr>
          <p:cNvPr id="17" name="Text 15"/>
          <p:cNvSpPr/>
          <p:nvPr/>
        </p:nvSpPr>
        <p:spPr>
          <a:xfrm>
            <a:off x="6492240" y="1234440"/>
            <a:ext cx="2331720" cy="528066"/>
          </a:xfrm>
          <a:prstGeom prst="rect">
            <a:avLst/>
          </a:prstGeom>
          <a:noFill/>
          <a:ln/>
        </p:spPr>
        <p:txBody>
          <a:bodyPr wrap="square" rtlCol="0" anchor="b"/>
          <a:lstStyle/>
          <a:p>
            <a:pPr marL="0" indent="0" algn="ctr">
              <a:buNone/>
            </a:pPr>
            <a:r>
              <a:rPr lang="en-US" sz="2800" b="1" dirty="0">
                <a:solidFill>
                  <a:srgbClr val="059669"/>
                </a:solidFill>
                <a:latin typeface="Calibri" pitchFamily="34" charset="0"/>
                <a:ea typeface="Calibri" pitchFamily="34" charset="-122"/>
                <a:cs typeface="Calibri" pitchFamily="34" charset="-120"/>
              </a:rPr>
              <a:t>2.5×</a:t>
            </a:r>
            <a:endParaRPr lang="en-US" sz="2800" dirty="0"/>
          </a:p>
        </p:txBody>
      </p:sp>
      <p:sp>
        <p:nvSpPr>
          <p:cNvPr id="18" name="Text 16"/>
          <p:cNvSpPr/>
          <p:nvPr/>
        </p:nvSpPr>
        <p:spPr>
          <a:xfrm>
            <a:off x="6492240" y="1716786"/>
            <a:ext cx="2331720" cy="384048"/>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More visits vs random</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(top 10%)</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2286000"/>
          <a:ext cx="8503920" cy="210312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2062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Targeting Depth</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Random Visits</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S-Learner Visits</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T-Learner Visits</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 Uplift Captured</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42062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Top 10%</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99</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254</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284</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44-49%</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Top 20%  ← SWEET SPOT</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185</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b="1" dirty="0">
                          <a:solidFill>
                            <a:srgbClr val="059669"/>
                          </a:solidFill>
                          <a:latin typeface="Calibri" pitchFamily="34" charset="0"/>
                          <a:ea typeface="Calibri" pitchFamily="34" charset="-122"/>
                          <a:cs typeface="Calibri" pitchFamily="34" charset="-120"/>
                        </a:rPr>
                        <a:t>456</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b="1" dirty="0">
                          <a:solidFill>
                            <a:srgbClr val="7C3AED"/>
                          </a:solidFill>
                          <a:latin typeface="Calibri" pitchFamily="34" charset="0"/>
                          <a:ea typeface="Calibri" pitchFamily="34" charset="-122"/>
                          <a:cs typeface="Calibri" pitchFamily="34" charset="-120"/>
                        </a:rPr>
                        <a:t>377</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b="1" dirty="0">
                          <a:solidFill>
                            <a:srgbClr val="059669"/>
                          </a:solidFill>
                          <a:latin typeface="Calibri" pitchFamily="34" charset="0"/>
                          <a:ea typeface="Calibri" pitchFamily="34" charset="-122"/>
                          <a:cs typeface="Calibri" pitchFamily="34" charset="-120"/>
                        </a:rPr>
                        <a:t>65-79%</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Top 30%</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306</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543</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507</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Top 100%</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576</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576</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576</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100% (all converge)</a:t>
                      </a:r>
                      <a:endParaRPr lang="en-US" sz="1200" dirty="0">
                        <a:latin typeface="Calibri" charset="0"/>
                        <a:ea typeface="Calibri" charset="0"/>
                        <a:cs typeface="Calibri"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0"/>
            <a:ext cx="7772400" cy="62179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Business Recommendations: Actionable Targeting Strategy</a:t>
            </a:r>
            <a:endParaRPr lang="en-US" sz="2200" dirty="0"/>
          </a:p>
        </p:txBody>
      </p:sp>
      <p:sp>
        <p:nvSpPr>
          <p:cNvPr id="4" name="Shape 2"/>
          <p:cNvSpPr/>
          <p:nvPr/>
        </p:nvSpPr>
        <p:spPr>
          <a:xfrm>
            <a:off x="274320" y="804672"/>
            <a:ext cx="4160520" cy="1234440"/>
          </a:xfrm>
          <a:prstGeom prst="rect">
            <a:avLst/>
          </a:prstGeom>
          <a:solidFill>
            <a:srgbClr val="FFFFFF"/>
          </a:solidFill>
          <a:ln w="12700">
            <a:solidFill>
              <a:srgbClr val="1E3A5F"/>
            </a:solidFill>
            <a:prstDash val="solid"/>
          </a:ln>
          <a:effectLst>
            <a:outerShdw blurRad="76200" dist="25400" dir="8100000" algn="bl" rotWithShape="0">
              <a:srgbClr val="000000">
                <a:alpha val="9000"/>
              </a:srgbClr>
            </a:outerShdw>
          </a:effectLst>
        </p:spPr>
        <p:txBody>
          <a:bodyPr/>
          <a:lstStyle/>
          <a:p>
            <a:endParaRPr lang="en-US"/>
          </a:p>
        </p:txBody>
      </p:sp>
      <p:sp>
        <p:nvSpPr>
          <p:cNvPr id="5" name="Shape 3"/>
          <p:cNvSpPr/>
          <p:nvPr/>
        </p:nvSpPr>
        <p:spPr>
          <a:xfrm>
            <a:off x="274320" y="804672"/>
            <a:ext cx="475488" cy="1234440"/>
          </a:xfrm>
          <a:prstGeom prst="rect">
            <a:avLst/>
          </a:prstGeom>
          <a:solidFill>
            <a:srgbClr val="1E3A5F"/>
          </a:solidFill>
          <a:ln w="12700">
            <a:solidFill>
              <a:srgbClr val="1E3A5F"/>
            </a:solidFill>
            <a:prstDash val="solid"/>
          </a:ln>
        </p:spPr>
        <p:txBody>
          <a:bodyPr/>
          <a:lstStyle/>
          <a:p>
            <a:endParaRPr lang="en-US"/>
          </a:p>
        </p:txBody>
      </p:sp>
      <p:sp>
        <p:nvSpPr>
          <p:cNvPr id="6" name="Text 4"/>
          <p:cNvSpPr/>
          <p:nvPr/>
        </p:nvSpPr>
        <p:spPr>
          <a:xfrm>
            <a:off x="274320" y="804672"/>
            <a:ext cx="475488" cy="12344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868680" y="896112"/>
            <a:ext cx="3429000" cy="411480"/>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Rank by LightGBM CATE</a:t>
            </a:r>
            <a:endParaRPr lang="en-US" sz="1300" dirty="0"/>
          </a:p>
        </p:txBody>
      </p:sp>
      <p:sp>
        <p:nvSpPr>
          <p:cNvPr id="8" name="Text 6"/>
          <p:cNvSpPr/>
          <p:nvPr/>
        </p:nvSpPr>
        <p:spPr>
          <a:xfrm>
            <a:off x="868680" y="1335024"/>
            <a:ext cx="3429000" cy="5943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Score all users before every campaign using T-Learner LightGBM</a:t>
            </a:r>
            <a:endParaRPr lang="en-US" sz="1100" dirty="0"/>
          </a:p>
        </p:txBody>
      </p:sp>
      <p:sp>
        <p:nvSpPr>
          <p:cNvPr id="9" name="Shape 7"/>
          <p:cNvSpPr/>
          <p:nvPr/>
        </p:nvSpPr>
        <p:spPr>
          <a:xfrm>
            <a:off x="274320" y="2221992"/>
            <a:ext cx="4160520" cy="1234440"/>
          </a:xfrm>
          <a:prstGeom prst="rect">
            <a:avLst/>
          </a:prstGeom>
          <a:solidFill>
            <a:srgbClr val="FFFFFF"/>
          </a:solidFill>
          <a:ln w="12700">
            <a:solidFill>
              <a:srgbClr val="2563EB"/>
            </a:solidFill>
            <a:prstDash val="solid"/>
          </a:ln>
          <a:effectLst>
            <a:outerShdw blurRad="76200" dist="25400" dir="8100000" algn="bl" rotWithShape="0">
              <a:srgbClr val="000000">
                <a:alpha val="9000"/>
              </a:srgbClr>
            </a:outerShdw>
          </a:effectLst>
        </p:spPr>
        <p:txBody>
          <a:bodyPr/>
          <a:lstStyle/>
          <a:p>
            <a:endParaRPr lang="en-US"/>
          </a:p>
        </p:txBody>
      </p:sp>
      <p:sp>
        <p:nvSpPr>
          <p:cNvPr id="10" name="Shape 8"/>
          <p:cNvSpPr/>
          <p:nvPr/>
        </p:nvSpPr>
        <p:spPr>
          <a:xfrm>
            <a:off x="274320" y="2221992"/>
            <a:ext cx="475488" cy="1234440"/>
          </a:xfrm>
          <a:prstGeom prst="rect">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274320" y="2221992"/>
            <a:ext cx="475488" cy="12344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868680" y="2313432"/>
            <a:ext cx="3429000" cy="411480"/>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Target Top 20-30% only</a:t>
            </a:r>
            <a:endParaRPr lang="en-US" sz="1300" dirty="0"/>
          </a:p>
        </p:txBody>
      </p:sp>
      <p:sp>
        <p:nvSpPr>
          <p:cNvPr id="13" name="Text 11"/>
          <p:cNvSpPr/>
          <p:nvPr/>
        </p:nvSpPr>
        <p:spPr>
          <a:xfrm>
            <a:off x="868680" y="2752344"/>
            <a:ext cx="3429000" cy="5943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Captures 65-79% of total uplift — contact 1 in 5 users, get 4/5 value</a:t>
            </a:r>
            <a:endParaRPr lang="en-US" sz="1100" dirty="0"/>
          </a:p>
        </p:txBody>
      </p:sp>
      <p:sp>
        <p:nvSpPr>
          <p:cNvPr id="14" name="Shape 12"/>
          <p:cNvSpPr/>
          <p:nvPr/>
        </p:nvSpPr>
        <p:spPr>
          <a:xfrm>
            <a:off x="274320" y="3639312"/>
            <a:ext cx="4160520" cy="1234440"/>
          </a:xfrm>
          <a:prstGeom prst="rect">
            <a:avLst/>
          </a:prstGeom>
          <a:solidFill>
            <a:srgbClr val="FFFFFF"/>
          </a:solidFill>
          <a:ln w="12700">
            <a:solidFill>
              <a:srgbClr val="DC2626"/>
            </a:solidFill>
            <a:prstDash val="solid"/>
          </a:ln>
          <a:effectLst>
            <a:outerShdw blurRad="76200" dist="25400" dir="8100000" algn="bl" rotWithShape="0">
              <a:srgbClr val="000000">
                <a:alpha val="9000"/>
              </a:srgbClr>
            </a:outerShdw>
          </a:effectLst>
        </p:spPr>
        <p:txBody>
          <a:bodyPr/>
          <a:lstStyle/>
          <a:p>
            <a:endParaRPr lang="en-US"/>
          </a:p>
        </p:txBody>
      </p:sp>
      <p:sp>
        <p:nvSpPr>
          <p:cNvPr id="15" name="Shape 13"/>
          <p:cNvSpPr/>
          <p:nvPr/>
        </p:nvSpPr>
        <p:spPr>
          <a:xfrm>
            <a:off x="274320" y="3639312"/>
            <a:ext cx="475488" cy="1234440"/>
          </a:xfrm>
          <a:prstGeom prst="rect">
            <a:avLst/>
          </a:prstGeom>
          <a:solidFill>
            <a:srgbClr val="DC2626"/>
          </a:solidFill>
          <a:ln w="12700">
            <a:solidFill>
              <a:srgbClr val="DC2626"/>
            </a:solidFill>
            <a:prstDash val="solid"/>
          </a:ln>
        </p:spPr>
        <p:txBody>
          <a:bodyPr/>
          <a:lstStyle/>
          <a:p>
            <a:endParaRPr lang="en-US"/>
          </a:p>
        </p:txBody>
      </p:sp>
      <p:sp>
        <p:nvSpPr>
          <p:cNvPr id="16" name="Text 14"/>
          <p:cNvSpPr/>
          <p:nvPr/>
        </p:nvSpPr>
        <p:spPr>
          <a:xfrm>
            <a:off x="274320" y="3639312"/>
            <a:ext cx="475488" cy="12344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868680" y="3730752"/>
            <a:ext cx="3429000" cy="41148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Suppress Sleeping Dogs (0.4%)</a:t>
            </a:r>
            <a:endParaRPr lang="en-US" sz="1300" dirty="0"/>
          </a:p>
        </p:txBody>
      </p:sp>
      <p:sp>
        <p:nvSpPr>
          <p:cNvPr id="18" name="Text 16"/>
          <p:cNvSpPr/>
          <p:nvPr/>
        </p:nvSpPr>
        <p:spPr>
          <a:xfrm>
            <a:off x="868680" y="4169664"/>
            <a:ext cx="3429000" cy="5943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Explicit exclusion list — these 269 users respond negatively to ads</a:t>
            </a:r>
            <a:endParaRPr lang="en-US" sz="1100" dirty="0"/>
          </a:p>
        </p:txBody>
      </p:sp>
      <p:sp>
        <p:nvSpPr>
          <p:cNvPr id="19" name="Shape 17"/>
          <p:cNvSpPr/>
          <p:nvPr/>
        </p:nvSpPr>
        <p:spPr>
          <a:xfrm>
            <a:off x="4754880" y="804672"/>
            <a:ext cx="4160520" cy="1234440"/>
          </a:xfrm>
          <a:prstGeom prst="rect">
            <a:avLst/>
          </a:prstGeom>
          <a:solidFill>
            <a:srgbClr val="FFFFFF"/>
          </a:solidFill>
          <a:ln w="12700">
            <a:solidFill>
              <a:srgbClr val="6B7280"/>
            </a:solidFill>
            <a:prstDash val="solid"/>
          </a:ln>
          <a:effectLst>
            <a:outerShdw blurRad="76200" dist="25400" dir="8100000" algn="bl" rotWithShape="0">
              <a:srgbClr val="000000">
                <a:alpha val="9000"/>
              </a:srgbClr>
            </a:outerShdw>
          </a:effectLst>
        </p:spPr>
        <p:txBody>
          <a:bodyPr/>
          <a:lstStyle/>
          <a:p>
            <a:endParaRPr lang="en-US"/>
          </a:p>
        </p:txBody>
      </p:sp>
      <p:sp>
        <p:nvSpPr>
          <p:cNvPr id="20" name="Shape 18"/>
          <p:cNvSpPr/>
          <p:nvPr/>
        </p:nvSpPr>
        <p:spPr>
          <a:xfrm>
            <a:off x="4754880" y="804672"/>
            <a:ext cx="475488" cy="1234440"/>
          </a:xfrm>
          <a:prstGeom prst="rect">
            <a:avLst/>
          </a:prstGeom>
          <a:solidFill>
            <a:srgbClr val="6B7280"/>
          </a:solidFill>
          <a:ln w="12700">
            <a:solidFill>
              <a:srgbClr val="6B7280"/>
            </a:solidFill>
            <a:prstDash val="solid"/>
          </a:ln>
        </p:spPr>
        <p:txBody>
          <a:bodyPr/>
          <a:lstStyle/>
          <a:p>
            <a:endParaRPr lang="en-US"/>
          </a:p>
        </p:txBody>
      </p:sp>
      <p:sp>
        <p:nvSpPr>
          <p:cNvPr id="21" name="Text 19"/>
          <p:cNvSpPr/>
          <p:nvPr/>
        </p:nvSpPr>
        <p:spPr>
          <a:xfrm>
            <a:off x="4754880" y="804672"/>
            <a:ext cx="475488" cy="12344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5349240" y="896112"/>
            <a:ext cx="3429000" cy="411480"/>
          </a:xfrm>
          <a:prstGeom prst="rect">
            <a:avLst/>
          </a:prstGeom>
          <a:noFill/>
          <a:ln/>
        </p:spPr>
        <p:txBody>
          <a:bodyPr wrap="square" lIns="0" tIns="0" rIns="0" bIns="0" rtlCol="0" anchor="ctr"/>
          <a:lstStyle/>
          <a:p>
            <a:pPr marL="0" indent="0">
              <a:buNone/>
            </a:pPr>
            <a:r>
              <a:rPr lang="en-US" sz="1300" b="1" dirty="0">
                <a:solidFill>
                  <a:srgbClr val="6B7280"/>
                </a:solidFill>
                <a:latin typeface="Calibri" pitchFamily="34" charset="0"/>
                <a:ea typeface="Calibri" pitchFamily="34" charset="-122"/>
                <a:cs typeface="Calibri" pitchFamily="34" charset="-120"/>
              </a:rPr>
              <a:t>Skip Sure Things (12%)</a:t>
            </a:r>
            <a:endParaRPr lang="en-US" sz="1300" dirty="0"/>
          </a:p>
        </p:txBody>
      </p:sp>
      <p:sp>
        <p:nvSpPr>
          <p:cNvPr id="23" name="Text 21"/>
          <p:cNvSpPr/>
          <p:nvPr/>
        </p:nvSpPr>
        <p:spPr>
          <a:xfrm>
            <a:off x="5349240" y="1335024"/>
            <a:ext cx="3429000" cy="5943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They buy without ads — redirect that 12% budget to Persuadables</a:t>
            </a:r>
            <a:endParaRPr lang="en-US" sz="1100" dirty="0"/>
          </a:p>
        </p:txBody>
      </p:sp>
      <p:sp>
        <p:nvSpPr>
          <p:cNvPr id="24" name="Shape 22"/>
          <p:cNvSpPr/>
          <p:nvPr/>
        </p:nvSpPr>
        <p:spPr>
          <a:xfrm>
            <a:off x="4754880" y="2221992"/>
            <a:ext cx="4160520" cy="1234440"/>
          </a:xfrm>
          <a:prstGeom prst="rect">
            <a:avLst/>
          </a:prstGeom>
          <a:solidFill>
            <a:srgbClr val="FFFFFF"/>
          </a:solidFill>
          <a:ln w="12700">
            <a:solidFill>
              <a:srgbClr val="059669"/>
            </a:solidFill>
            <a:prstDash val="solid"/>
          </a:ln>
          <a:effectLst>
            <a:outerShdw blurRad="76200" dist="25400" dir="8100000" algn="bl" rotWithShape="0">
              <a:srgbClr val="000000">
                <a:alpha val="9000"/>
              </a:srgbClr>
            </a:outerShdw>
          </a:effectLst>
        </p:spPr>
        <p:txBody>
          <a:bodyPr/>
          <a:lstStyle/>
          <a:p>
            <a:endParaRPr lang="en-US"/>
          </a:p>
        </p:txBody>
      </p:sp>
      <p:sp>
        <p:nvSpPr>
          <p:cNvPr id="25" name="Shape 23"/>
          <p:cNvSpPr/>
          <p:nvPr/>
        </p:nvSpPr>
        <p:spPr>
          <a:xfrm>
            <a:off x="4754880" y="2221992"/>
            <a:ext cx="475488" cy="1234440"/>
          </a:xfrm>
          <a:prstGeom prst="rect">
            <a:avLst/>
          </a:prstGeom>
          <a:solidFill>
            <a:srgbClr val="059669"/>
          </a:solidFill>
          <a:ln w="12700">
            <a:solidFill>
              <a:srgbClr val="059669"/>
            </a:solidFill>
            <a:prstDash val="solid"/>
          </a:ln>
        </p:spPr>
        <p:txBody>
          <a:bodyPr/>
          <a:lstStyle/>
          <a:p>
            <a:endParaRPr lang="en-US"/>
          </a:p>
        </p:txBody>
      </p:sp>
      <p:sp>
        <p:nvSpPr>
          <p:cNvPr id="26" name="Text 24"/>
          <p:cNvSpPr/>
          <p:nvPr/>
        </p:nvSpPr>
        <p:spPr>
          <a:xfrm>
            <a:off x="4754880" y="2221992"/>
            <a:ext cx="475488" cy="12344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5349240" y="2313432"/>
            <a:ext cx="3429000" cy="411480"/>
          </a:xfrm>
          <a:prstGeom prst="rect">
            <a:avLst/>
          </a:prstGeom>
          <a:noFill/>
          <a:ln/>
        </p:spPr>
        <p:txBody>
          <a:bodyPr wrap="square" lIns="0" tIns="0" rIns="0" bIns="0"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Prioritise f1 &amp; f9 high users</a:t>
            </a:r>
            <a:endParaRPr lang="en-US" sz="1300" dirty="0"/>
          </a:p>
        </p:txBody>
      </p:sp>
      <p:sp>
        <p:nvSpPr>
          <p:cNvPr id="28" name="Text 26"/>
          <p:cNvSpPr/>
          <p:nvPr/>
        </p:nvSpPr>
        <p:spPr>
          <a:xfrm>
            <a:off x="5349240" y="2752344"/>
            <a:ext cx="3429000" cy="5943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Strongest positive CATE predictors — front-load these in targeting</a:t>
            </a:r>
            <a:endParaRPr lang="en-US" sz="1100" dirty="0"/>
          </a:p>
        </p:txBody>
      </p:sp>
      <p:sp>
        <p:nvSpPr>
          <p:cNvPr id="29" name="Shape 27"/>
          <p:cNvSpPr/>
          <p:nvPr/>
        </p:nvSpPr>
        <p:spPr>
          <a:xfrm>
            <a:off x="4754880" y="3639312"/>
            <a:ext cx="4160520" cy="1234440"/>
          </a:xfrm>
          <a:prstGeom prst="rect">
            <a:avLst/>
          </a:prstGeom>
          <a:solidFill>
            <a:srgbClr val="FFFFFF"/>
          </a:solidFill>
          <a:ln w="12700">
            <a:solidFill>
              <a:srgbClr val="D97706"/>
            </a:solidFill>
            <a:prstDash val="solid"/>
          </a:ln>
          <a:effectLst>
            <a:outerShdw blurRad="76200" dist="25400" dir="8100000" algn="bl" rotWithShape="0">
              <a:srgbClr val="000000">
                <a:alpha val="9000"/>
              </a:srgbClr>
            </a:outerShdw>
          </a:effectLst>
        </p:spPr>
        <p:txBody>
          <a:bodyPr/>
          <a:lstStyle/>
          <a:p>
            <a:endParaRPr lang="en-US"/>
          </a:p>
        </p:txBody>
      </p:sp>
      <p:sp>
        <p:nvSpPr>
          <p:cNvPr id="30" name="Shape 28"/>
          <p:cNvSpPr/>
          <p:nvPr/>
        </p:nvSpPr>
        <p:spPr>
          <a:xfrm>
            <a:off x="4754880" y="3639312"/>
            <a:ext cx="475488" cy="1234440"/>
          </a:xfrm>
          <a:prstGeom prst="rect">
            <a:avLst/>
          </a:prstGeom>
          <a:solidFill>
            <a:srgbClr val="D97706"/>
          </a:solidFill>
          <a:ln w="12700">
            <a:solidFill>
              <a:srgbClr val="D97706"/>
            </a:solidFill>
            <a:prstDash val="solid"/>
          </a:ln>
        </p:spPr>
        <p:txBody>
          <a:bodyPr/>
          <a:lstStyle/>
          <a:p>
            <a:endParaRPr lang="en-US"/>
          </a:p>
        </p:txBody>
      </p:sp>
      <p:sp>
        <p:nvSpPr>
          <p:cNvPr id="31" name="Text 29"/>
          <p:cNvSpPr/>
          <p:nvPr/>
        </p:nvSpPr>
        <p:spPr>
          <a:xfrm>
            <a:off x="4754880" y="3639312"/>
            <a:ext cx="475488" cy="12344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32" name="Text 30"/>
          <p:cNvSpPr/>
          <p:nvPr/>
        </p:nvSpPr>
        <p:spPr>
          <a:xfrm>
            <a:off x="5349240" y="3730752"/>
            <a:ext cx="3429000" cy="41148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Retrain models quarterly</a:t>
            </a:r>
            <a:endParaRPr lang="en-US" sz="1300" dirty="0"/>
          </a:p>
        </p:txBody>
      </p:sp>
      <p:sp>
        <p:nvSpPr>
          <p:cNvPr id="33" name="Text 31"/>
          <p:cNvSpPr/>
          <p:nvPr/>
        </p:nvSpPr>
        <p:spPr>
          <a:xfrm>
            <a:off x="5349240" y="4169664"/>
            <a:ext cx="3429000" cy="5943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User behaviour evolves — refresh LightGBM every 3 months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Key Takeaways</a:t>
            </a:r>
            <a:endParaRPr lang="en-US" sz="2600" dirty="0"/>
          </a:p>
        </p:txBody>
      </p:sp>
      <p:sp>
        <p:nvSpPr>
          <p:cNvPr id="3" name="Shape 1"/>
          <p:cNvSpPr/>
          <p:nvPr/>
        </p:nvSpPr>
        <p:spPr>
          <a:xfrm>
            <a:off x="365760" y="804672"/>
            <a:ext cx="502920" cy="658368"/>
          </a:xfrm>
          <a:prstGeom prst="rect">
            <a:avLst/>
          </a:prstGeom>
          <a:solidFill>
            <a:srgbClr val="059669"/>
          </a:solidFill>
          <a:ln w="12700">
            <a:solidFill>
              <a:srgbClr val="059669"/>
            </a:solidFill>
            <a:prstDash val="solid"/>
          </a:ln>
        </p:spPr>
        <p:txBody>
          <a:bodyPr/>
          <a:lstStyle/>
          <a:p>
            <a:endParaRPr lang="en-US"/>
          </a:p>
        </p:txBody>
      </p:sp>
      <p:sp>
        <p:nvSpPr>
          <p:cNvPr id="4" name="Text 2"/>
          <p:cNvSpPr/>
          <p:nvPr/>
        </p:nvSpPr>
        <p:spPr>
          <a:xfrm>
            <a:off x="365760" y="804672"/>
            <a:ext cx="502920" cy="65836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005840" y="859536"/>
            <a:ext cx="77724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ad works — ATE +1.03pp on visits (+26.4%) and +0.17pp on conversions (+93.0%), confirmed by both Naive and IPW estimation.</a:t>
            </a:r>
            <a:endParaRPr lang="en-US" sz="1300" dirty="0"/>
          </a:p>
        </p:txBody>
      </p:sp>
      <p:sp>
        <p:nvSpPr>
          <p:cNvPr id="6" name="Shape 4"/>
          <p:cNvSpPr/>
          <p:nvPr/>
        </p:nvSpPr>
        <p:spPr>
          <a:xfrm>
            <a:off x="365760" y="1655064"/>
            <a:ext cx="502920" cy="658368"/>
          </a:xfrm>
          <a:prstGeom prst="rect">
            <a:avLst/>
          </a:prstGeom>
          <a:solidFill>
            <a:srgbClr val="2563EB"/>
          </a:solidFill>
          <a:ln w="12700">
            <a:solidFill>
              <a:srgbClr val="2563EB"/>
            </a:solidFill>
            <a:prstDash val="solid"/>
          </a:ln>
        </p:spPr>
        <p:txBody>
          <a:bodyPr/>
          <a:lstStyle/>
          <a:p>
            <a:endParaRPr lang="en-US"/>
          </a:p>
        </p:txBody>
      </p:sp>
      <p:sp>
        <p:nvSpPr>
          <p:cNvPr id="7" name="Text 5"/>
          <p:cNvSpPr/>
          <p:nvPr/>
        </p:nvSpPr>
        <p:spPr>
          <a:xfrm>
            <a:off x="365760" y="1655064"/>
            <a:ext cx="502920" cy="65836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005840" y="1709928"/>
            <a:ext cx="77724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Heterogeneity is real — CATE ranges from −0.27 to +0.58. LightGBM (AUC 0.94) reveals 2× wider spread than Logistic Regression.</a:t>
            </a:r>
            <a:endParaRPr lang="en-US" sz="1300" dirty="0"/>
          </a:p>
        </p:txBody>
      </p:sp>
      <p:sp>
        <p:nvSpPr>
          <p:cNvPr id="9" name="Shape 7"/>
          <p:cNvSpPr/>
          <p:nvPr/>
        </p:nvSpPr>
        <p:spPr>
          <a:xfrm>
            <a:off x="365760" y="2505456"/>
            <a:ext cx="502920" cy="658368"/>
          </a:xfrm>
          <a:prstGeom prst="rect">
            <a:avLst/>
          </a:prstGeom>
          <a:solidFill>
            <a:srgbClr val="D97706"/>
          </a:solidFill>
          <a:ln w="12700">
            <a:solidFill>
              <a:srgbClr val="D97706"/>
            </a:solidFill>
            <a:prstDash val="solid"/>
          </a:ln>
        </p:spPr>
        <p:txBody>
          <a:bodyPr/>
          <a:lstStyle/>
          <a:p>
            <a:endParaRPr lang="en-US"/>
          </a:p>
        </p:txBody>
      </p:sp>
      <p:sp>
        <p:nvSpPr>
          <p:cNvPr id="10" name="Text 8"/>
          <p:cNvSpPr/>
          <p:nvPr/>
        </p:nvSpPr>
        <p:spPr>
          <a:xfrm>
            <a:off x="365760" y="2505456"/>
            <a:ext cx="502920" cy="65836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005840" y="2560320"/>
            <a:ext cx="77724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Only 3.4% are true Persuadables. 84.2% are Lost Causes. Targeting everyone wastes 84 cents of every advertising dollar.</a:t>
            </a:r>
            <a:endParaRPr lang="en-US" sz="1300" dirty="0"/>
          </a:p>
        </p:txBody>
      </p:sp>
      <p:sp>
        <p:nvSpPr>
          <p:cNvPr id="12" name="Shape 10"/>
          <p:cNvSpPr/>
          <p:nvPr/>
        </p:nvSpPr>
        <p:spPr>
          <a:xfrm>
            <a:off x="365760" y="3355848"/>
            <a:ext cx="502920" cy="658368"/>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365760" y="3355848"/>
            <a:ext cx="502920" cy="65836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4" name="Text 12"/>
          <p:cNvSpPr/>
          <p:nvPr/>
        </p:nvSpPr>
        <p:spPr>
          <a:xfrm>
            <a:off x="1005840" y="3410712"/>
            <a:ext cx="7772400" cy="5943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Model-based targeting captures 65-79% of total uplift from just 20% of users — 2-3× more efficient than random targeting.</a:t>
            </a:r>
            <a:endParaRPr lang="en-US" sz="1300" dirty="0"/>
          </a:p>
        </p:txBody>
      </p:sp>
      <p:sp>
        <p:nvSpPr>
          <p:cNvPr id="15" name="Shape 13"/>
          <p:cNvSpPr/>
          <p:nvPr/>
        </p:nvSpPr>
        <p:spPr>
          <a:xfrm>
            <a:off x="365760" y="4315968"/>
            <a:ext cx="8412480" cy="438912"/>
          </a:xfrm>
          <a:prstGeom prst="rect">
            <a:avLst/>
          </a:prstGeom>
          <a:solidFill>
            <a:srgbClr val="2563EB"/>
          </a:solidFill>
          <a:ln w="12700">
            <a:solidFill>
              <a:srgbClr val="2563EB"/>
            </a:solidFill>
            <a:prstDash val="solid"/>
          </a:ln>
        </p:spPr>
        <p:txBody>
          <a:bodyPr/>
          <a:lstStyle/>
          <a:p>
            <a:endParaRPr lang="en-US"/>
          </a:p>
        </p:txBody>
      </p:sp>
      <p:sp>
        <p:nvSpPr>
          <p:cNvPr id="16" name="Text 14"/>
          <p:cNvSpPr/>
          <p:nvPr/>
        </p:nvSpPr>
        <p:spPr>
          <a:xfrm>
            <a:off x="365760" y="4315968"/>
            <a:ext cx="8412480" cy="438912"/>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Uplift modelling is not just better prediction — it is causal targeting. Finding the 3.4% is worth more than reaching the other 96.6%.</a:t>
            </a:r>
            <a:endParaRPr lang="en-US" sz="1100" dirty="0"/>
          </a:p>
        </p:txBody>
      </p:sp>
      <p:sp>
        <p:nvSpPr>
          <p:cNvPr id="17" name="Shape 15"/>
          <p:cNvSpPr/>
          <p:nvPr/>
        </p:nvSpPr>
        <p:spPr>
          <a:xfrm>
            <a:off x="365760" y="4828032"/>
            <a:ext cx="8412480" cy="274320"/>
          </a:xfrm>
          <a:prstGeom prst="rect">
            <a:avLst/>
          </a:prstGeom>
          <a:solidFill>
            <a:srgbClr val="162D4A"/>
          </a:solidFill>
          <a:ln w="12700">
            <a:solidFill>
              <a:srgbClr val="162D4A"/>
            </a:solidFill>
            <a:prstDash val="solid"/>
          </a:ln>
        </p:spPr>
        <p:txBody>
          <a:bodyPr/>
          <a:lstStyle/>
          <a:p>
            <a:endParaRPr lang="en-US"/>
          </a:p>
        </p:txBody>
      </p:sp>
      <p:sp>
        <p:nvSpPr>
          <p:cNvPr id="18" name="Text 16"/>
          <p:cNvSpPr/>
          <p:nvPr/>
        </p:nvSpPr>
        <p:spPr>
          <a:xfrm>
            <a:off x="365760" y="4828032"/>
            <a:ext cx="8412480" cy="27432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Thank You  |  David  |  ECON 5140 — Applied Econometrics  |  April 2026  |  Dataset: Criteo Uplift v2.1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999625-EA68-8532-224F-78FAE2831B8E}"/>
              </a:ext>
            </a:extLst>
          </p:cNvPr>
          <p:cNvSpPr txBox="1"/>
          <p:nvPr/>
        </p:nvSpPr>
        <p:spPr>
          <a:xfrm>
            <a:off x="1560353" y="1912690"/>
            <a:ext cx="6458306" cy="369332"/>
          </a:xfrm>
          <a:prstGeom prst="rect">
            <a:avLst/>
          </a:prstGeom>
          <a:noFill/>
        </p:spPr>
        <p:txBody>
          <a:bodyPr wrap="none" rtlCol="0">
            <a:spAutoFit/>
          </a:bodyPr>
          <a:lstStyle/>
          <a:p>
            <a:r>
              <a:rPr lang="en-US" dirty="0">
                <a:hlinkClick r:id="rId2"/>
              </a:rPr>
              <a:t>ECONS_5140/AD </a:t>
            </a:r>
            <a:r>
              <a:rPr lang="en-US" dirty="0" err="1">
                <a:hlinkClick r:id="rId2"/>
              </a:rPr>
              <a:t>ANALYSIS.ipynb</a:t>
            </a:r>
            <a:r>
              <a:rPr lang="en-US" dirty="0">
                <a:hlinkClick r:id="rId2"/>
              </a:rPr>
              <a:t> at main · David-abu/ECONS_5140</a:t>
            </a:r>
            <a:endParaRPr lang="en-US" dirty="0"/>
          </a:p>
        </p:txBody>
      </p:sp>
      <p:sp>
        <p:nvSpPr>
          <p:cNvPr id="3" name="TextBox 2">
            <a:extLst>
              <a:ext uri="{FF2B5EF4-FFF2-40B4-BE49-F238E27FC236}">
                <a16:creationId xmlns:a16="http://schemas.microsoft.com/office/drawing/2014/main" id="{0C420217-186E-80EB-7B2B-8CEC9BE74CE8}"/>
              </a:ext>
            </a:extLst>
          </p:cNvPr>
          <p:cNvSpPr txBox="1"/>
          <p:nvPr/>
        </p:nvSpPr>
        <p:spPr>
          <a:xfrm>
            <a:off x="2944536" y="1048624"/>
            <a:ext cx="2191113" cy="369332"/>
          </a:xfrm>
          <a:prstGeom prst="rect">
            <a:avLst/>
          </a:prstGeom>
          <a:noFill/>
        </p:spPr>
        <p:txBody>
          <a:bodyPr wrap="none" rtlCol="0">
            <a:spAutoFit/>
          </a:bodyPr>
          <a:lstStyle/>
          <a:p>
            <a:r>
              <a:rPr lang="en-US" dirty="0"/>
              <a:t>My Project on </a:t>
            </a:r>
            <a:r>
              <a:rPr lang="en-US" dirty="0" err="1"/>
              <a:t>Github</a:t>
            </a:r>
            <a:endParaRPr lang="en-US" dirty="0"/>
          </a:p>
        </p:txBody>
      </p:sp>
    </p:spTree>
    <p:extLst>
      <p:ext uri="{BB962C8B-B14F-4D97-AF65-F5344CB8AC3E}">
        <p14:creationId xmlns:p14="http://schemas.microsoft.com/office/powerpoint/2010/main" val="935254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2589</Words>
  <Application>Microsoft Office PowerPoint</Application>
  <PresentationFormat>On-screen Show (16:9)</PresentationFormat>
  <Paragraphs>252</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Criteo Uplift Modelling — 10-15 Min Presentation</dc:title>
  <dc:subject>PptxGenJS Presentation</dc:subject>
  <dc:creator>David</dc:creator>
  <cp:lastModifiedBy>David Abu</cp:lastModifiedBy>
  <cp:revision>2</cp:revision>
  <dcterms:created xsi:type="dcterms:W3CDTF">2026-04-23T02:49:06Z</dcterms:created>
  <dcterms:modified xsi:type="dcterms:W3CDTF">2026-04-24T01:26:54Z</dcterms:modified>
</cp:coreProperties>
</file>